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1"/>
  </p:notesMasterIdLst>
  <p:sldIdLst>
    <p:sldId id="256" r:id="rId2"/>
    <p:sldId id="418" r:id="rId3"/>
    <p:sldId id="363" r:id="rId4"/>
    <p:sldId id="419" r:id="rId5"/>
    <p:sldId id="453" r:id="rId6"/>
    <p:sldId id="436" r:id="rId7"/>
    <p:sldId id="442" r:id="rId8"/>
    <p:sldId id="437" r:id="rId9"/>
    <p:sldId id="439" r:id="rId10"/>
    <p:sldId id="435" r:id="rId11"/>
    <p:sldId id="443" r:id="rId12"/>
    <p:sldId id="444" r:id="rId13"/>
    <p:sldId id="445" r:id="rId14"/>
    <p:sldId id="454" r:id="rId15"/>
    <p:sldId id="446" r:id="rId16"/>
    <p:sldId id="447" r:id="rId17"/>
    <p:sldId id="448" r:id="rId18"/>
    <p:sldId id="452" r:id="rId19"/>
    <p:sldId id="348" r:id="rId20"/>
  </p:sldIdLst>
  <p:sldSz cx="9144000" cy="5143500" type="screen16x9"/>
  <p:notesSz cx="6858000" cy="9144000"/>
  <p:embeddedFontLst>
    <p:embeddedFont>
      <p:font typeface="Karla Regular" panose="020B0604020202020204" charset="0"/>
      <p:bold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Tahoma" panose="020B0604030504040204" pitchFamily="34" charset="0"/>
      <p:regular r:id="rId32"/>
      <p:bold r:id="rId33"/>
    </p:embeddedFont>
    <p:embeddedFont>
      <p:font typeface="Nunito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D1900-AC4F-4A15-BEC6-FC9A572E3F83}">
  <a:tblStyle styleId="{7C7D1900-AC4F-4A15-BEC6-FC9A572E3F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472" autoAdjust="0"/>
  </p:normalViewPr>
  <p:slideViewPr>
    <p:cSldViewPr snapToGrid="0">
      <p:cViewPr varScale="1">
        <p:scale>
          <a:sx n="110" d="100"/>
          <a:sy n="110" d="100"/>
        </p:scale>
        <p:origin x="686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953000" y="4629150"/>
            <a:ext cx="4343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81" r:id="rId4"/>
    <p:sldLayoutId id="2147483682" r:id="rId5"/>
    <p:sldLayoutId id="2147483683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1873037" y="312994"/>
            <a:ext cx="6736302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smtClean="0"/>
              <a:t>Interface PIC with LED,SWITCH,BUZZER and UART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241963" y="3620121"/>
            <a:ext cx="5140037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600" dirty="0"/>
              <a:t>EMBEDDED SYSTEM </a:t>
            </a:r>
            <a:r>
              <a:rPr lang="en" sz="1600" dirty="0" smtClean="0"/>
              <a:t>DESIGN &amp; IoT-Master Class</a:t>
            </a:r>
            <a:endParaRPr sz="16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-77280" y="4354934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197795" y="211850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         </a:t>
            </a:r>
            <a:r>
              <a:rPr lang="en" sz="1800" b="1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DAY 19</a:t>
            </a:r>
            <a:endParaRPr sz="100" b="1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9" y="1070028"/>
            <a:ext cx="1174118" cy="1102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 b="1" dirty="0" smtClean="0">
                <a:solidFill>
                  <a:schemeClr val="tx2"/>
                </a:solidFill>
                <a:latin typeface="Fire sans extra"/>
              </a:rPr>
              <a:t>What You will learn Today?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11700" y="1242808"/>
            <a:ext cx="7924800" cy="23574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</a:rPr>
              <a:t>Interface LED ,</a:t>
            </a:r>
            <a:r>
              <a:rPr lang="en-US" sz="3200" b="1" dirty="0" err="1" smtClean="0">
                <a:solidFill>
                  <a:schemeClr val="bg2">
                    <a:lumMod val="75000"/>
                  </a:schemeClr>
                </a:solidFill>
              </a:rPr>
              <a:t>Switch,Buzzer,Relay</a:t>
            </a:r>
            <a:endParaRPr lang="en-US" sz="32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3200" b="1" dirty="0" smtClean="0">
                <a:solidFill>
                  <a:schemeClr val="bg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UART </a:t>
            </a: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3200" b="1" dirty="0" smtClean="0">
              <a:solidFill>
                <a:schemeClr val="bg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6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63" y="19016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Mindset Lesson for the Day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81" y="1156205"/>
            <a:ext cx="8520600" cy="1272071"/>
          </a:xfrm>
        </p:spPr>
        <p:txBody>
          <a:bodyPr/>
          <a:lstStyle/>
          <a:p>
            <a:pPr marL="139700" indent="0">
              <a:buNone/>
            </a:pPr>
            <a:r>
              <a:rPr lang="en-US" sz="4400" b="1" dirty="0" smtClean="0">
                <a:solidFill>
                  <a:schemeClr val="tx1"/>
                </a:solidFill>
              </a:rPr>
              <a:t>The way you respond to any situation will change the Outcome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3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7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Embedded System Design using PIC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64" y="1170704"/>
            <a:ext cx="5230108" cy="36023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65619" y="879008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40pin-SIF Socket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8 Nos. Point LEDs (Logic Output)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8 Nos. Digital Input (DIP Switch)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4x4 Matrix Keypad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2X16 Character LCD (Background Light)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 Nos. 7-Segment Display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 Nos. Analog Input (Potentiometer)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Temperature Sensor (LM35)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Stepper Motor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2 Nos. of SPST Relay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DS1307 RTC with Batter-Backup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USART(RS232)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USB 2.0 Enabled Programmer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Interrupts Study, Reset Button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SPI – EEPROM.25C040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I2C EEPROM 24C04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Digital Temperature Sensor(DS18S20)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4x10-Pin Expansion Connector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44444"/>
                </a:solidFill>
                <a:latin typeface="Arial" panose="020B0604020202020204" pitchFamily="34" charset="0"/>
              </a:rPr>
              <a:t>Piezo Electric Buzzer</a:t>
            </a:r>
          </a:p>
        </p:txBody>
      </p:sp>
    </p:spTree>
    <p:extLst>
      <p:ext uri="{BB962C8B-B14F-4D97-AF65-F5344CB8AC3E}">
        <p14:creationId xmlns:p14="http://schemas.microsoft.com/office/powerpoint/2010/main" val="313806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78625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PIC PIN Diagram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00" y="1094925"/>
            <a:ext cx="4157401" cy="3416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5225"/>
            <a:ext cx="4416099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8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264" y="257989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LED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299" y="1021769"/>
            <a:ext cx="3499149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6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DIP SWITCH Interface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384" y="1115287"/>
            <a:ext cx="5252939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16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617" y="1212850"/>
            <a:ext cx="4913567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11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Buzzer and Relay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714" y="1115287"/>
            <a:ext cx="6437080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81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119" y="116413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SWITCH AND LED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119" y="773856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IN" sz="1100" b="1" dirty="0"/>
              <a:t>#include&lt;</a:t>
            </a:r>
            <a:r>
              <a:rPr lang="en-IN" sz="1100" b="1" dirty="0" err="1"/>
              <a:t>pic.h</a:t>
            </a:r>
            <a:r>
              <a:rPr lang="en-IN" sz="1100" b="1" dirty="0"/>
              <a:t>&gt;			//Define PIC Registers</a:t>
            </a:r>
          </a:p>
          <a:p>
            <a:pPr marL="139700" indent="0">
              <a:buNone/>
            </a:pPr>
            <a:r>
              <a:rPr lang="en-IN" sz="1100" b="1" dirty="0" smtClean="0"/>
              <a:t>__</a:t>
            </a:r>
            <a:r>
              <a:rPr lang="en-IN" sz="1100" b="1" dirty="0"/>
              <a:t>CONFIG(0x3f72);		//Select HS oscillator, Enable (PWRTE,BOREN),</a:t>
            </a:r>
          </a:p>
          <a:p>
            <a:pPr marL="139700" indent="0">
              <a:buNone/>
            </a:pPr>
            <a:r>
              <a:rPr lang="en-IN" sz="1100" b="1" dirty="0" smtClean="0"/>
              <a:t>void </a:t>
            </a:r>
            <a:r>
              <a:rPr lang="en-IN" sz="1100" b="1" dirty="0" err="1"/>
              <a:t>DelayMs</a:t>
            </a:r>
            <a:r>
              <a:rPr lang="en-IN" sz="1100" b="1" dirty="0"/>
              <a:t>(unsigned </a:t>
            </a:r>
            <a:r>
              <a:rPr lang="en-IN" sz="1100" b="1" dirty="0" err="1"/>
              <a:t>int</a:t>
            </a:r>
            <a:r>
              <a:rPr lang="en-IN" sz="1100" b="1" dirty="0" smtClean="0"/>
              <a:t>);</a:t>
            </a:r>
            <a:endParaRPr lang="en-IN" sz="1100" b="1" dirty="0"/>
          </a:p>
          <a:p>
            <a:pPr marL="139700" indent="0">
              <a:buNone/>
            </a:pPr>
            <a:r>
              <a:rPr lang="en-IN" sz="1100" b="1" dirty="0"/>
              <a:t>void main()</a:t>
            </a:r>
          </a:p>
          <a:p>
            <a:pPr marL="139700" indent="0">
              <a:buNone/>
            </a:pPr>
            <a:r>
              <a:rPr lang="en-IN" sz="1100" b="1" dirty="0"/>
              <a:t>{</a:t>
            </a:r>
          </a:p>
          <a:p>
            <a:pPr marL="139700" indent="0">
              <a:buNone/>
            </a:pPr>
            <a:r>
              <a:rPr lang="en-IN" sz="1100" b="1" dirty="0"/>
              <a:t>	</a:t>
            </a:r>
            <a:r>
              <a:rPr lang="en-IN" sz="1100" b="1" dirty="0" err="1"/>
              <a:t>DelayMs</a:t>
            </a:r>
            <a:r>
              <a:rPr lang="en-IN" sz="1100" b="1" dirty="0"/>
              <a:t>(10);</a:t>
            </a:r>
          </a:p>
          <a:p>
            <a:pPr marL="139700" indent="0">
              <a:buNone/>
            </a:pPr>
            <a:r>
              <a:rPr lang="en-IN" sz="1100" b="1" dirty="0"/>
              <a:t>	RBPU=0;				//Enable weak internal Pull-Ups</a:t>
            </a:r>
          </a:p>
          <a:p>
            <a:pPr marL="139700" indent="0">
              <a:buNone/>
            </a:pPr>
            <a:r>
              <a:rPr lang="en-IN" sz="1100" b="1" dirty="0"/>
              <a:t>	TRISB=0xFF;			//PORTB Configured as I/P</a:t>
            </a:r>
          </a:p>
          <a:p>
            <a:pPr marL="139700" indent="0">
              <a:buNone/>
            </a:pPr>
            <a:r>
              <a:rPr lang="en-IN" sz="1100" b="1" dirty="0"/>
              <a:t>	TRISC=0x00;			//PORTC configured as O/P</a:t>
            </a:r>
          </a:p>
          <a:p>
            <a:pPr marL="139700" indent="0">
              <a:buNone/>
            </a:pPr>
            <a:r>
              <a:rPr lang="en-IN" sz="1100" b="1" dirty="0"/>
              <a:t>	PORTC=0x00;</a:t>
            </a:r>
          </a:p>
          <a:p>
            <a:pPr marL="139700" indent="0">
              <a:buNone/>
            </a:pPr>
            <a:r>
              <a:rPr lang="en-IN" sz="1100" b="1" dirty="0"/>
              <a:t>	</a:t>
            </a:r>
            <a:r>
              <a:rPr lang="en-IN" sz="1100" b="1" dirty="0" err="1"/>
              <a:t>DelayMs</a:t>
            </a:r>
            <a:r>
              <a:rPr lang="en-IN" sz="1100" b="1" dirty="0"/>
              <a:t>(10);</a:t>
            </a:r>
          </a:p>
          <a:p>
            <a:pPr marL="139700" indent="0">
              <a:buNone/>
            </a:pPr>
            <a:r>
              <a:rPr lang="en-IN" sz="1100" b="1" dirty="0"/>
              <a:t>	</a:t>
            </a:r>
            <a:r>
              <a:rPr lang="en-IN" sz="1100" b="1" dirty="0" smtClean="0"/>
              <a:t>while(1</a:t>
            </a:r>
            <a:r>
              <a:rPr lang="en-IN" sz="1100" b="1" dirty="0"/>
              <a:t>)</a:t>
            </a:r>
          </a:p>
          <a:p>
            <a:pPr marL="139700" indent="0">
              <a:buNone/>
            </a:pPr>
            <a:r>
              <a:rPr lang="en-IN" sz="1100" b="1" dirty="0"/>
              <a:t>	{</a:t>
            </a:r>
          </a:p>
          <a:p>
            <a:pPr marL="139700" indent="0">
              <a:buNone/>
            </a:pPr>
            <a:r>
              <a:rPr lang="en-IN" sz="1100" b="1" dirty="0"/>
              <a:t>		PORTC=PORTB;	//Move the input to output</a:t>
            </a:r>
          </a:p>
          <a:p>
            <a:pPr marL="139700" indent="0">
              <a:buNone/>
            </a:pPr>
            <a:r>
              <a:rPr lang="en-IN" sz="1100" b="1" dirty="0"/>
              <a:t>		</a:t>
            </a:r>
            <a:r>
              <a:rPr lang="en-IN" sz="1100" b="1" dirty="0" err="1"/>
              <a:t>DelayMs</a:t>
            </a:r>
            <a:r>
              <a:rPr lang="en-IN" sz="1100" b="1" dirty="0"/>
              <a:t>(500);</a:t>
            </a:r>
          </a:p>
          <a:p>
            <a:pPr marL="139700" indent="0">
              <a:buNone/>
            </a:pPr>
            <a:r>
              <a:rPr lang="en-IN" sz="1100" b="1" dirty="0"/>
              <a:t>	}</a:t>
            </a:r>
          </a:p>
          <a:p>
            <a:pPr marL="139700" indent="0">
              <a:buNone/>
            </a:pPr>
            <a:r>
              <a:rPr lang="en-IN" sz="1100" b="1" dirty="0"/>
              <a:t>}</a:t>
            </a:r>
          </a:p>
          <a:p>
            <a:pPr marL="139700" indent="0">
              <a:buNone/>
            </a:pPr>
            <a:endParaRPr lang="en-IN" sz="1100" b="1" dirty="0"/>
          </a:p>
          <a:p>
            <a:pPr marL="139700" indent="0">
              <a:buNone/>
            </a:pPr>
            <a:r>
              <a:rPr lang="en-IN" sz="1100" b="1" dirty="0"/>
              <a:t>void </a:t>
            </a:r>
            <a:r>
              <a:rPr lang="en-IN" sz="1100" b="1" dirty="0" err="1"/>
              <a:t>DelayMs</a:t>
            </a:r>
            <a:r>
              <a:rPr lang="en-IN" sz="1100" b="1" dirty="0"/>
              <a:t>(unsigned </a:t>
            </a:r>
            <a:r>
              <a:rPr lang="en-IN" sz="1100" b="1" dirty="0" err="1"/>
              <a:t>int</a:t>
            </a:r>
            <a:r>
              <a:rPr lang="en-IN" sz="1100" b="1" dirty="0"/>
              <a:t> Ms)</a:t>
            </a:r>
          </a:p>
          <a:p>
            <a:pPr marL="139700" indent="0">
              <a:buNone/>
            </a:pPr>
            <a:r>
              <a:rPr lang="en-IN" sz="1100" b="1" dirty="0"/>
              <a:t>{</a:t>
            </a:r>
          </a:p>
          <a:p>
            <a:pPr marL="139700" indent="0">
              <a:buNone/>
            </a:pPr>
            <a:r>
              <a:rPr lang="en-IN" sz="1100" b="1" dirty="0"/>
              <a:t>	</a:t>
            </a:r>
            <a:r>
              <a:rPr lang="en-IN" sz="1100" b="1" dirty="0" err="1"/>
              <a:t>int</a:t>
            </a:r>
            <a:r>
              <a:rPr lang="en-IN" sz="1100" b="1" dirty="0"/>
              <a:t> </a:t>
            </a:r>
            <a:r>
              <a:rPr lang="en-IN" sz="1100" b="1" dirty="0" err="1"/>
              <a:t>delay_cnst</a:t>
            </a:r>
            <a:r>
              <a:rPr lang="en-IN" sz="1100" b="1" dirty="0"/>
              <a:t>;</a:t>
            </a:r>
          </a:p>
          <a:p>
            <a:pPr marL="139700" indent="0">
              <a:buNone/>
            </a:pPr>
            <a:r>
              <a:rPr lang="en-IN" sz="1100" b="1" dirty="0"/>
              <a:t>	while(Ms&gt;0)</a:t>
            </a:r>
          </a:p>
          <a:p>
            <a:pPr marL="139700" indent="0">
              <a:buNone/>
            </a:pPr>
            <a:r>
              <a:rPr lang="en-IN" sz="1100" b="1" dirty="0"/>
              <a:t>	{</a:t>
            </a:r>
          </a:p>
          <a:p>
            <a:pPr marL="139700" indent="0">
              <a:buNone/>
            </a:pPr>
            <a:r>
              <a:rPr lang="en-IN" sz="1100" b="1" dirty="0"/>
              <a:t>		Ms--;</a:t>
            </a:r>
          </a:p>
          <a:p>
            <a:pPr marL="139700" indent="0">
              <a:buNone/>
            </a:pPr>
            <a:r>
              <a:rPr lang="en-IN" sz="1100" b="1" dirty="0"/>
              <a:t>		for(</a:t>
            </a:r>
            <a:r>
              <a:rPr lang="en-IN" sz="1100" b="1" dirty="0" err="1"/>
              <a:t>delay_cnst</a:t>
            </a:r>
            <a:r>
              <a:rPr lang="en-IN" sz="1100" b="1" dirty="0"/>
              <a:t> = 0;delay_cnst &lt;220;delay_cnst++);</a:t>
            </a:r>
          </a:p>
          <a:p>
            <a:pPr marL="139700" indent="0">
              <a:buNone/>
            </a:pPr>
            <a:r>
              <a:rPr lang="en-IN" sz="1100" b="1" dirty="0"/>
              <a:t>	}</a:t>
            </a:r>
          </a:p>
          <a:p>
            <a:pPr marL="139700" indent="0">
              <a:buNone/>
            </a:pPr>
            <a:r>
              <a:rPr lang="en-IN" sz="11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628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41222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UART </a:t>
            </a:r>
            <a:r>
              <a:rPr lang="en-IN" b="1" dirty="0">
                <a:solidFill>
                  <a:srgbClr val="FF0000"/>
                </a:solidFill>
              </a:rPr>
              <a:t>Registers used for Serial Communication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1735931"/>
            <a:ext cx="8520600" cy="283294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1600" dirty="0" smtClean="0"/>
              <a:t>TXSTA </a:t>
            </a:r>
            <a:r>
              <a:rPr lang="en-IN" sz="1600" dirty="0"/>
              <a:t>(Transmit Status And Control Register)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dirty="0"/>
              <a:t>RCSTA (Receive Status And Control Register)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dirty="0"/>
              <a:t>SPBRG (USART Baud Rate Generator)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dirty="0"/>
              <a:t>TXREG (USART Transmit Register)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dirty="0"/>
              <a:t>RCREG (USART Receiver Register)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45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USART MODES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2400" dirty="0"/>
              <a:t>The </a:t>
            </a:r>
            <a:r>
              <a:rPr lang="en-US" sz="2400" b="1" dirty="0"/>
              <a:t>USART</a:t>
            </a:r>
            <a:r>
              <a:rPr lang="en-US" sz="2400" dirty="0"/>
              <a:t> can be configured in the following modes:</a:t>
            </a:r>
            <a:br>
              <a:rPr lang="en-US" sz="2400" dirty="0"/>
            </a:br>
            <a:endParaRPr lang="en-US" sz="24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 smtClean="0"/>
              <a:t>Asynchronous </a:t>
            </a:r>
            <a:r>
              <a:rPr lang="en-IN" sz="2400" dirty="0"/>
              <a:t>(full-duplex)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 smtClean="0"/>
              <a:t>Synchronous </a:t>
            </a:r>
            <a:r>
              <a:rPr lang="en-IN" sz="2400" dirty="0"/>
              <a:t>– Master (half-duplex)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 smtClean="0"/>
              <a:t>Synchronous </a:t>
            </a:r>
            <a:r>
              <a:rPr lang="en-IN" sz="2400" dirty="0"/>
              <a:t>– Slave (half-duplex)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27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TXSTA (Transmit Status And Control Register)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512" y="648408"/>
            <a:ext cx="5248793" cy="877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1512" y="1721667"/>
            <a:ext cx="65865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CSRC: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Clock Source Select bit (Asynchronous mode: Don’t care</a:t>
            </a:r>
            <a:r>
              <a:rPr lang="en-I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TX9: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9-bit Transmit Enable bit</a:t>
            </a:r>
          </a:p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Selects 9-bit transmission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0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Selects 8-bit transmission</a:t>
            </a:r>
          </a:p>
          <a:p>
            <a:r>
              <a:rPr lang="en-US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TXEN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Transmit Enable bit</a:t>
            </a:r>
          </a:p>
          <a:p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Transmit enabled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0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Transmit 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</a:p>
          <a:p>
            <a:r>
              <a:rPr lang="fr-FR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SYNC: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USART Mode Select bit</a:t>
            </a:r>
          </a:p>
          <a:p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 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Synchronous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  <a:b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0 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BRGH: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 Baud Rate Select 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</a:p>
          <a:p>
            <a:pPr lvl="4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High speed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Low speed</a:t>
            </a:r>
          </a:p>
          <a:p>
            <a:r>
              <a:rPr lang="sv-SE" sz="1000" b="1" dirty="0"/>
              <a:t>TRMT:</a:t>
            </a:r>
            <a:r>
              <a:rPr lang="sv-SE" sz="1000" dirty="0"/>
              <a:t> Transmit Shift Register Status bit</a:t>
            </a:r>
          </a:p>
          <a:p>
            <a:r>
              <a:rPr lang="en-US" sz="1000" dirty="0"/>
              <a:t>1 = TSR empty</a:t>
            </a:r>
            <a:br>
              <a:rPr lang="en-US" sz="1000" dirty="0"/>
            </a:br>
            <a:r>
              <a:rPr lang="en-US" sz="1000" dirty="0"/>
              <a:t>0 = TSR full</a:t>
            </a:r>
          </a:p>
          <a:p>
            <a:r>
              <a:rPr lang="en-US" sz="1000" b="1" dirty="0"/>
              <a:t>TX9D:</a:t>
            </a:r>
            <a:r>
              <a:rPr lang="en-US" sz="1000" dirty="0"/>
              <a:t> 9th bit of Transmit Data, can be a Parity bit</a:t>
            </a:r>
          </a:p>
          <a:p>
            <a:r>
              <a:rPr lang="sv-SE" sz="1000" dirty="0"/>
              <a:t/>
            </a:r>
            <a:br>
              <a:rPr lang="sv-SE" sz="1000" dirty="0"/>
            </a:br>
            <a:r>
              <a:rPr lang="en-US" dirty="0"/>
              <a:t/>
            </a:r>
            <a:br>
              <a:rPr lang="en-US" dirty="0"/>
            </a:br>
            <a:endParaRPr lang="fr-FR" dirty="0"/>
          </a:p>
          <a:p>
            <a:endParaRPr lang="en-US" dirty="0"/>
          </a:p>
          <a:p>
            <a:endParaRPr lang="en-IN" dirty="0">
              <a:latin typeface="Tahoma" panose="020B0604030504040204" pitchFamily="34" charset="0"/>
            </a:endParaRP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926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694" y="0"/>
            <a:ext cx="8520600" cy="572700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RCSTA (Receive Status And Control Register)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/>
            </a:r>
            <a:br>
              <a:rPr lang="en-US" sz="2800" dirty="0">
                <a:solidFill>
                  <a:srgbClr val="FF0000"/>
                </a:solidFill>
              </a:rPr>
            </a:br>
            <a:endParaRPr lang="en-IN" sz="28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31" y="572700"/>
            <a:ext cx="5660757" cy="10162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1694" y="1563346"/>
            <a:ext cx="704636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SPEN: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Serial Port Enable bit</a:t>
            </a:r>
          </a:p>
          <a:p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Serial port enabled (configures RC7/RX/DT and RC6/TX/CK pins as serial port pins)</a:t>
            </a: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Serial port disabled</a:t>
            </a:r>
          </a:p>
          <a:p>
            <a:pPr algn="just"/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RX9: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9-bit Receive Enable bit</a:t>
            </a:r>
          </a:p>
          <a:p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Selects 9-bit reception</a:t>
            </a: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Selects 8-bit reception</a:t>
            </a:r>
          </a:p>
          <a:p>
            <a:pPr algn="just"/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SREN: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Single Receive Enable bit (Asynchronous mode: Don’t care)</a:t>
            </a:r>
          </a:p>
          <a:p>
            <a:r>
              <a:rPr lang="en-I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CREN:</a:t>
            </a:r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Continuous Receive Enable </a:t>
            </a:r>
            <a:r>
              <a:rPr lang="en-IN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mode: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Enables continuous receive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Disables continuous receive</a:t>
            </a:r>
          </a:p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ADDEN: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Address Detect Enable bit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mode 9-bit (RX9 = 1):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Enables address detection, enables interrupt and load of the receive buffer when RSR is set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Disables address detection, all bytes are received and the ninth bit can be used as a parity bit</a:t>
            </a:r>
          </a:p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FERR: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Framing Error </a:t>
            </a:r>
            <a:r>
              <a:rPr lang="en-US" sz="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Framing error (can be updated by reading RCREG register and receive next valid byte)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No framing error</a:t>
            </a:r>
          </a:p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OERR: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Overrun Error bit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Overrun error (can be cleared by clearing bit CREN)</a:t>
            </a:r>
            <a:b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No overrun error</a:t>
            </a:r>
          </a:p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RX9D: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9th bit of Received Data (can be parity bit but must be calculated by user firmware)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2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SPBRG (USART Baud Rate Generator)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583" y="1384220"/>
            <a:ext cx="7059010" cy="115268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92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Transmit &amp;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Receiver </a:t>
            </a:r>
            <a:r>
              <a:rPr lang="en-US" b="1" dirty="0">
                <a:solidFill>
                  <a:srgbClr val="FF0000"/>
                </a:solidFill>
              </a:rPr>
              <a:t>Register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TXREG (USART Transmit Register)</a:t>
            </a:r>
          </a:p>
          <a:p>
            <a:r>
              <a:rPr lang="en-US" dirty="0"/>
              <a:t>This is like a transmit buffer. But it is only an 8-bit register. So we have to place the character whatever we want to transmit via USART.</a:t>
            </a:r>
          </a:p>
          <a:p>
            <a:r>
              <a:rPr lang="en-US" b="1" dirty="0"/>
              <a:t>RCREG (USART Receiver Register)</a:t>
            </a:r>
          </a:p>
          <a:p>
            <a:r>
              <a:rPr lang="en-US" dirty="0"/>
              <a:t>This is like a receiver buffer. But it is only an 8-bit register. So we can take the character whatever we microcontroller received via USART.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26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Initializing USART</a:t>
            </a: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688" y="1327050"/>
            <a:ext cx="8520600" cy="3416400"/>
          </a:xfrm>
        </p:spPr>
        <p:txBody>
          <a:bodyPr/>
          <a:lstStyle/>
          <a:p>
            <a:r>
              <a:rPr lang="en-US" sz="2000" dirty="0" smtClean="0"/>
              <a:t>Configure </a:t>
            </a:r>
            <a:r>
              <a:rPr lang="en-US" sz="2000" dirty="0"/>
              <a:t>the TXSTA Register for Transmit</a:t>
            </a:r>
          </a:p>
          <a:p>
            <a:r>
              <a:rPr lang="en-US" sz="2000" dirty="0"/>
              <a:t>Configure the RCSTA Register for Receiver</a:t>
            </a:r>
          </a:p>
          <a:p>
            <a:r>
              <a:rPr lang="en-US" sz="2000" dirty="0"/>
              <a:t>Feed the value for baud rate that you have calculated using the above formula to SPBRG Register</a:t>
            </a:r>
          </a:p>
          <a:p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1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355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UART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838150"/>
            <a:ext cx="8520600" cy="3416400"/>
          </a:xfrm>
        </p:spPr>
        <p:txBody>
          <a:bodyPr/>
          <a:lstStyle/>
          <a:p>
            <a:pPr marL="139700" indent="0">
              <a:buNone/>
            </a:pPr>
            <a:r>
              <a:rPr lang="en-US" sz="1000" b="1" dirty="0"/>
              <a:t>#include&lt;</a:t>
            </a:r>
            <a:r>
              <a:rPr lang="en-US" sz="1000" b="1" dirty="0" err="1"/>
              <a:t>pic.h</a:t>
            </a:r>
            <a:r>
              <a:rPr lang="en-US" sz="1000" b="1" dirty="0"/>
              <a:t>&gt;</a:t>
            </a:r>
          </a:p>
          <a:p>
            <a:pPr marL="139700" indent="0">
              <a:buNone/>
            </a:pPr>
            <a:r>
              <a:rPr lang="en-US" sz="1000" b="1" dirty="0" smtClean="0"/>
              <a:t>__</a:t>
            </a:r>
            <a:r>
              <a:rPr lang="en-US" sz="1000" b="1" dirty="0"/>
              <a:t>CONFIG(0x3f72);</a:t>
            </a:r>
          </a:p>
          <a:p>
            <a:pPr marL="139700" indent="0">
              <a:buNone/>
            </a:pPr>
            <a:r>
              <a:rPr lang="en-US" sz="1000" b="1" dirty="0" smtClean="0"/>
              <a:t>#</a:t>
            </a:r>
            <a:r>
              <a:rPr lang="en-US" sz="1000" b="1" dirty="0"/>
              <a:t>define FOSC 		</a:t>
            </a:r>
            <a:r>
              <a:rPr lang="en-US" sz="1000" b="1" dirty="0" smtClean="0"/>
              <a:t>10000</a:t>
            </a:r>
            <a:r>
              <a:rPr lang="en-US" sz="1000" b="1" dirty="0"/>
              <a:t>	//10Mhz==&gt;10000Khz</a:t>
            </a:r>
          </a:p>
          <a:p>
            <a:pPr marL="139700" indent="0">
              <a:buNone/>
            </a:pPr>
            <a:r>
              <a:rPr lang="en-US" sz="1000" b="1" dirty="0"/>
              <a:t>#define BAUD_RATE	</a:t>
            </a:r>
            <a:r>
              <a:rPr lang="en-US" sz="1000" b="1" dirty="0" smtClean="0"/>
              <a:t>9.6</a:t>
            </a:r>
            <a:r>
              <a:rPr lang="en-US" sz="1000" b="1" dirty="0"/>
              <a:t>		//9600 </a:t>
            </a:r>
            <a:r>
              <a:rPr lang="en-US" sz="1000" b="1" dirty="0" err="1"/>
              <a:t>Baudrate</a:t>
            </a:r>
            <a:endParaRPr lang="en-US" sz="1000" b="1" dirty="0"/>
          </a:p>
          <a:p>
            <a:pPr marL="139700" indent="0">
              <a:buNone/>
            </a:pPr>
            <a:r>
              <a:rPr lang="en-US" sz="1000" b="1" dirty="0"/>
              <a:t>#define </a:t>
            </a:r>
            <a:r>
              <a:rPr lang="en-US" sz="1000" b="1" dirty="0" smtClean="0"/>
              <a:t>BAUD_VAL    (char</a:t>
            </a:r>
            <a:r>
              <a:rPr lang="en-US" sz="1000" b="1" dirty="0"/>
              <a:t>)(FOSC/ (16 * BAUD_RATE )) - 1;		//Calculation For 9600 </a:t>
            </a:r>
            <a:r>
              <a:rPr lang="en-US" sz="1000" b="1" dirty="0" err="1"/>
              <a:t>Baudrate</a:t>
            </a:r>
            <a:r>
              <a:rPr lang="en-US" sz="1000" b="1" dirty="0"/>
              <a:t> @10Mhz</a:t>
            </a:r>
          </a:p>
          <a:p>
            <a:pPr marL="139700" indent="0">
              <a:buNone/>
            </a:pPr>
            <a:r>
              <a:rPr lang="en-US" sz="1000" b="1" dirty="0" smtClean="0"/>
              <a:t>void </a:t>
            </a:r>
            <a:r>
              <a:rPr lang="en-US" sz="1000" b="1" dirty="0"/>
              <a:t>main()</a:t>
            </a:r>
          </a:p>
          <a:p>
            <a:pPr marL="139700" indent="0">
              <a:buNone/>
            </a:pPr>
            <a:r>
              <a:rPr lang="en-US" sz="1000" b="1" dirty="0"/>
              <a:t>	{</a:t>
            </a:r>
          </a:p>
          <a:p>
            <a:pPr marL="139700" indent="0">
              <a:buNone/>
            </a:pPr>
            <a:r>
              <a:rPr lang="en-US" sz="1000" b="1" dirty="0"/>
              <a:t>	unsigned char </a:t>
            </a:r>
            <a:r>
              <a:rPr lang="en-US" sz="1000" b="1" dirty="0" err="1"/>
              <a:t>ReceiveChar</a:t>
            </a:r>
            <a:r>
              <a:rPr lang="en-US" sz="1000" b="1" dirty="0"/>
              <a:t>;	</a:t>
            </a:r>
          </a:p>
          <a:p>
            <a:pPr marL="139700" indent="0">
              <a:buNone/>
            </a:pPr>
            <a:r>
              <a:rPr lang="en-US" sz="1000" b="1" dirty="0"/>
              <a:t>	TRISC=0xc0;					//RC7,RC6 set to </a:t>
            </a:r>
            <a:r>
              <a:rPr lang="en-US" sz="1000" b="1" dirty="0" err="1"/>
              <a:t>usart</a:t>
            </a:r>
            <a:r>
              <a:rPr lang="en-US" sz="1000" b="1" dirty="0"/>
              <a:t> mode(INPUT)</a:t>
            </a:r>
          </a:p>
          <a:p>
            <a:pPr marL="139700" indent="0">
              <a:buNone/>
            </a:pPr>
            <a:r>
              <a:rPr lang="en-US" sz="1000" b="1" dirty="0"/>
              <a:t>	TXSTA=0x24;					//Transmit Enable</a:t>
            </a:r>
          </a:p>
          <a:p>
            <a:pPr marL="139700" indent="0">
              <a:buNone/>
            </a:pPr>
            <a:r>
              <a:rPr lang="nn-NO" sz="1000" b="1" dirty="0"/>
              <a:t>	SPBRG=BAUD_VAL;				//9600 baud at 10Mhz</a:t>
            </a:r>
          </a:p>
          <a:p>
            <a:pPr marL="139700" indent="0">
              <a:buNone/>
            </a:pPr>
            <a:r>
              <a:rPr lang="en-US" sz="1000" b="1" dirty="0"/>
              <a:t>	RCSTA=0x90;					//</a:t>
            </a:r>
            <a:r>
              <a:rPr lang="en-US" sz="1000" b="1" dirty="0" err="1"/>
              <a:t>Usart</a:t>
            </a:r>
            <a:r>
              <a:rPr lang="en-US" sz="1000" b="1" dirty="0"/>
              <a:t> Enable, </a:t>
            </a:r>
            <a:r>
              <a:rPr lang="en-US" sz="1000" b="1" dirty="0" err="1"/>
              <a:t>Continus</a:t>
            </a:r>
            <a:r>
              <a:rPr lang="en-US" sz="1000" b="1" dirty="0"/>
              <a:t> receive enable</a:t>
            </a:r>
          </a:p>
          <a:p>
            <a:pPr marL="139700" indent="0">
              <a:buNone/>
            </a:pPr>
            <a:r>
              <a:rPr lang="en-US" sz="1000" b="1" dirty="0"/>
              <a:t>	TXREG='0';</a:t>
            </a:r>
          </a:p>
          <a:p>
            <a:pPr marL="139700" indent="0">
              <a:buNone/>
            </a:pPr>
            <a:r>
              <a:rPr lang="en-US" sz="1000" b="1" dirty="0"/>
              <a:t>	while(1)</a:t>
            </a:r>
          </a:p>
          <a:p>
            <a:pPr marL="139700" indent="0">
              <a:buNone/>
            </a:pPr>
            <a:r>
              <a:rPr lang="en-US" sz="1000" b="1" dirty="0"/>
              <a:t>	{</a:t>
            </a:r>
          </a:p>
          <a:p>
            <a:pPr marL="139700" indent="0">
              <a:buNone/>
            </a:pPr>
            <a:r>
              <a:rPr lang="en-US" sz="1000" b="1" dirty="0"/>
              <a:t>	    if (RCIF==1)			//char received? Send 'A' back to Terminal</a:t>
            </a:r>
          </a:p>
          <a:p>
            <a:pPr marL="139700" indent="0">
              <a:buNone/>
            </a:pPr>
            <a:r>
              <a:rPr lang="en-US" sz="1000" b="1" dirty="0"/>
              <a:t>	   	{</a:t>
            </a:r>
          </a:p>
          <a:p>
            <a:pPr marL="139700" indent="0">
              <a:buNone/>
            </a:pPr>
            <a:r>
              <a:rPr lang="en-US" sz="1000" b="1" dirty="0"/>
              <a:t>		  </a:t>
            </a:r>
            <a:r>
              <a:rPr lang="en-US" sz="1000" b="1" dirty="0" err="1"/>
              <a:t>ReceiveChar</a:t>
            </a:r>
            <a:r>
              <a:rPr lang="en-US" sz="1000" b="1" dirty="0"/>
              <a:t>=RCREG;</a:t>
            </a:r>
          </a:p>
          <a:p>
            <a:pPr marL="139700" indent="0">
              <a:buNone/>
            </a:pPr>
            <a:r>
              <a:rPr lang="en-US" sz="1000" b="1" dirty="0"/>
              <a:t>		  if(TXIF==1)</a:t>
            </a:r>
          </a:p>
          <a:p>
            <a:pPr marL="139700" indent="0">
              <a:buNone/>
            </a:pPr>
            <a:r>
              <a:rPr lang="en-US" sz="1000" b="1" dirty="0"/>
              <a:t>		    TXREG=</a:t>
            </a:r>
            <a:r>
              <a:rPr lang="en-US" sz="1000" b="1" dirty="0" err="1"/>
              <a:t>ReceiveChar</a:t>
            </a:r>
            <a:r>
              <a:rPr lang="en-US" sz="1000" b="1" dirty="0"/>
              <a:t>;</a:t>
            </a:r>
          </a:p>
          <a:p>
            <a:pPr marL="139700" indent="0">
              <a:buNone/>
            </a:pPr>
            <a:r>
              <a:rPr lang="en-US" sz="1000" b="1" dirty="0"/>
              <a:t>		}	</a:t>
            </a:r>
          </a:p>
          <a:p>
            <a:pPr marL="139700" indent="0">
              <a:buNone/>
            </a:pPr>
            <a:r>
              <a:rPr lang="en-US" sz="1000" b="1" dirty="0"/>
              <a:t>	}</a:t>
            </a:r>
          </a:p>
          <a:p>
            <a:pPr marL="139700" indent="0">
              <a:buNone/>
            </a:pPr>
            <a:r>
              <a:rPr lang="en-US" sz="1000" b="1" dirty="0"/>
              <a:t>}</a:t>
            </a:r>
          </a:p>
          <a:p>
            <a:pPr marL="139700" indent="0">
              <a:buNone/>
            </a:pPr>
            <a:endParaRPr lang="en-US" sz="1000" b="1" dirty="0"/>
          </a:p>
          <a:p>
            <a:pPr marL="139700" indent="0">
              <a:buNone/>
            </a:pPr>
            <a:endParaRPr lang="en-IN" sz="1000" b="1" dirty="0"/>
          </a:p>
        </p:txBody>
      </p:sp>
    </p:spTree>
    <p:extLst>
      <p:ext uri="{BB962C8B-B14F-4D97-AF65-F5344CB8AC3E}">
        <p14:creationId xmlns:p14="http://schemas.microsoft.com/office/powerpoint/2010/main" val="169293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49" y="2013573"/>
            <a:ext cx="7704000" cy="572700"/>
          </a:xfrm>
        </p:spPr>
        <p:txBody>
          <a:bodyPr/>
          <a:lstStyle/>
          <a:p>
            <a:r>
              <a:rPr lang="en-US" sz="7200" dirty="0" smtClean="0">
                <a:solidFill>
                  <a:schemeClr val="tx2"/>
                </a:solidFill>
              </a:rPr>
              <a:t>Thank You</a:t>
            </a:r>
            <a:endParaRPr lang="en-IN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6492</TotalTime>
  <Words>395</Words>
  <Application>Microsoft Office PowerPoint</Application>
  <PresentationFormat>On-screen Show (16:9)</PresentationFormat>
  <Paragraphs>164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Times New Roman</vt:lpstr>
      <vt:lpstr>Karla Regular</vt:lpstr>
      <vt:lpstr>Roboto</vt:lpstr>
      <vt:lpstr>Fire sans extra</vt:lpstr>
      <vt:lpstr>Wingdings</vt:lpstr>
      <vt:lpstr>Montserrat</vt:lpstr>
      <vt:lpstr>Tahoma</vt:lpstr>
      <vt:lpstr>Nunito</vt:lpstr>
      <vt:lpstr>Mathematics Subject for Middle School - 6th Grade: Algebra by Slidesgo</vt:lpstr>
      <vt:lpstr>Interface PIC with LED,SWITCH,BUZZER and UART</vt:lpstr>
      <vt:lpstr>PowerPoint Presentation</vt:lpstr>
      <vt:lpstr>Mindset Lesson for the Day</vt:lpstr>
      <vt:lpstr>Embedded System Design using PIC</vt:lpstr>
      <vt:lpstr>PIC PIN Diagram</vt:lpstr>
      <vt:lpstr>LED Interface</vt:lpstr>
      <vt:lpstr>DIP SWITCH Interface</vt:lpstr>
      <vt:lpstr>UART</vt:lpstr>
      <vt:lpstr>Buzzer and Relay</vt:lpstr>
      <vt:lpstr>SWITCH AND LED</vt:lpstr>
      <vt:lpstr>UART Registers used for Serial Communication </vt:lpstr>
      <vt:lpstr>USART MODES</vt:lpstr>
      <vt:lpstr>TXSTA (Transmit Status And Control Register)  </vt:lpstr>
      <vt:lpstr>RCSTA (Receive Status And Control Register)  </vt:lpstr>
      <vt:lpstr>SPBRG (USART Baud Rate Generator)  </vt:lpstr>
      <vt:lpstr>Transmit &amp; Receiver Register</vt:lpstr>
      <vt:lpstr>Initializing USART </vt:lpstr>
      <vt:lpstr>UART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&amp; IoT</dc:title>
  <dc:creator>jeeva rajan</dc:creator>
  <cp:lastModifiedBy>PANTECH</cp:lastModifiedBy>
  <cp:revision>591</cp:revision>
  <dcterms:modified xsi:type="dcterms:W3CDTF">2021-07-25T06:27:31Z</dcterms:modified>
</cp:coreProperties>
</file>