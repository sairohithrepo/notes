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17"/>
  </p:notesMasterIdLst>
  <p:sldIdLst>
    <p:sldId id="256" r:id="rId2"/>
    <p:sldId id="418" r:id="rId3"/>
    <p:sldId id="363" r:id="rId4"/>
    <p:sldId id="419" r:id="rId5"/>
    <p:sldId id="453" r:id="rId6"/>
    <p:sldId id="459" r:id="rId7"/>
    <p:sldId id="461" r:id="rId8"/>
    <p:sldId id="462" r:id="rId9"/>
    <p:sldId id="464" r:id="rId10"/>
    <p:sldId id="463" r:id="rId11"/>
    <p:sldId id="465" r:id="rId12"/>
    <p:sldId id="466" r:id="rId13"/>
    <p:sldId id="467" r:id="rId14"/>
    <p:sldId id="468" r:id="rId15"/>
    <p:sldId id="348" r:id="rId16"/>
  </p:sldIdLst>
  <p:sldSz cx="9144000" cy="5143500" type="screen16x9"/>
  <p:notesSz cx="6858000" cy="9144000"/>
  <p:embeddedFontLst>
    <p:embeddedFont>
      <p:font typeface="Karla Regular" panose="020B0604020202020204" charset="0"/>
      <p:bold r:id="rId18"/>
      <p:boldItalic r:id="rId19"/>
    </p:embeddedFont>
    <p:embeddedFont>
      <p:font typeface="Roboto" panose="02000000000000000000" pitchFamily="2" charset="0"/>
      <p:regular r:id="rId20"/>
      <p:bold r:id="rId21"/>
      <p:italic r:id="rId22"/>
      <p:boldItalic r:id="rId23"/>
    </p:embeddedFont>
    <p:embeddedFont>
      <p:font typeface="Montserrat" panose="00000500000000000000" pitchFamily="2" charset="0"/>
      <p:regular r:id="rId24"/>
      <p:bold r:id="rId25"/>
      <p:italic r:id="rId26"/>
      <p:boldItalic r:id="rId27"/>
    </p:embeddedFont>
    <p:embeddedFont>
      <p:font typeface="Nunito" panose="020B060402020202020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C7D1900-AC4F-4A15-BEC6-FC9A572E3F83}">
  <a:tblStyle styleId="{7C7D1900-AC4F-4A15-BEC6-FC9A572E3F8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90" autoAdjust="0"/>
    <p:restoredTop sz="94472" autoAdjust="0"/>
  </p:normalViewPr>
  <p:slideViewPr>
    <p:cSldViewPr snapToGrid="0">
      <p:cViewPr varScale="1">
        <p:scale>
          <a:sx n="110" d="100"/>
          <a:sy n="110" d="100"/>
        </p:scale>
        <p:origin x="710" y="62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2" name="Google Shape;2202;gcec4d2707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3" name="Google Shape;2203;gcec4d2707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2399960" y="826618"/>
            <a:ext cx="4287930" cy="3642388"/>
            <a:chOff x="4611450" y="3151300"/>
            <a:chExt cx="667725" cy="567200"/>
          </a:xfrm>
        </p:grpSpPr>
        <p:sp>
          <p:nvSpPr>
            <p:cNvPr id="10" name="Google Shape;10;p2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3080750" y="1003821"/>
            <a:ext cx="5781900" cy="261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subTitle" idx="1"/>
          </p:nvPr>
        </p:nvSpPr>
        <p:spPr>
          <a:xfrm>
            <a:off x="3080750" y="3610150"/>
            <a:ext cx="1591200" cy="47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25" name="Google Shape;25;p2"/>
          <p:cNvGrpSpPr/>
          <p:nvPr/>
        </p:nvGrpSpPr>
        <p:grpSpPr>
          <a:xfrm flipH="1">
            <a:off x="7641120" y="4577926"/>
            <a:ext cx="1051274" cy="787312"/>
            <a:chOff x="3585475" y="1537675"/>
            <a:chExt cx="649175" cy="486175"/>
          </a:xfrm>
        </p:grpSpPr>
        <p:sp>
          <p:nvSpPr>
            <p:cNvPr id="26" name="Google Shape;26;p2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46;p2"/>
          <p:cNvSpPr/>
          <p:nvPr/>
        </p:nvSpPr>
        <p:spPr>
          <a:xfrm flipH="1">
            <a:off x="7937525" y="1510200"/>
            <a:ext cx="786451" cy="78728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"/>
          <p:cNvSpPr/>
          <p:nvPr/>
        </p:nvSpPr>
        <p:spPr>
          <a:xfrm flipH="1">
            <a:off x="8256002" y="1510202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">
    <p:spTree>
      <p:nvGrpSpPr>
        <p:cNvPr id="1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1384" name="Google Shape;1384;p26"/>
          <p:cNvGrpSpPr/>
          <p:nvPr/>
        </p:nvGrpSpPr>
        <p:grpSpPr>
          <a:xfrm>
            <a:off x="359957" y="-418499"/>
            <a:ext cx="1051274" cy="787312"/>
            <a:chOff x="3585475" y="1537675"/>
            <a:chExt cx="649175" cy="486175"/>
          </a:xfrm>
        </p:grpSpPr>
        <p:sp>
          <p:nvSpPr>
            <p:cNvPr id="1385" name="Google Shape;1385;p26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26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6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6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26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26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6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6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26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26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6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6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26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26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26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26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26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26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26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26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5" name="Google Shape;1405;p26"/>
          <p:cNvGrpSpPr/>
          <p:nvPr/>
        </p:nvGrpSpPr>
        <p:grpSpPr>
          <a:xfrm>
            <a:off x="7633694" y="4775189"/>
            <a:ext cx="1051274" cy="787312"/>
            <a:chOff x="3585475" y="1537675"/>
            <a:chExt cx="649175" cy="486175"/>
          </a:xfrm>
        </p:grpSpPr>
        <p:sp>
          <p:nvSpPr>
            <p:cNvPr id="1406" name="Google Shape;1406;p26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26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26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26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26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26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26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26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26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26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26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26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26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26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26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26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26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26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26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26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TITLE_ONLY_2_3_1">
    <p:bg>
      <p:bgPr>
        <a:solidFill>
          <a:schemeClr val="lt1"/>
        </a:solidFill>
        <a:effectLst/>
      </p:bgPr>
    </p:bg>
    <p:spTree>
      <p:nvGrpSpPr>
        <p:cNvPr id="1" name="Shape 2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0" name="Google Shape;2020;p35"/>
          <p:cNvSpPr/>
          <p:nvPr/>
        </p:nvSpPr>
        <p:spPr>
          <a:xfrm rot="10800000">
            <a:off x="-1633725" y="-1256389"/>
            <a:ext cx="2148195" cy="2148195"/>
          </a:xfrm>
          <a:custGeom>
            <a:avLst/>
            <a:gdLst/>
            <a:ahLst/>
            <a:cxnLst/>
            <a:rect l="l" t="t" r="r" b="b"/>
            <a:pathLst>
              <a:path w="39478" h="39478" fill="none" extrusionOk="0">
                <a:moveTo>
                  <a:pt x="39477" y="19720"/>
                </a:moveTo>
                <a:lnTo>
                  <a:pt x="39477" y="19720"/>
                </a:lnTo>
                <a:lnTo>
                  <a:pt x="39438" y="20735"/>
                </a:lnTo>
                <a:lnTo>
                  <a:pt x="39360" y="21750"/>
                </a:lnTo>
                <a:lnTo>
                  <a:pt x="39243" y="22726"/>
                </a:lnTo>
                <a:lnTo>
                  <a:pt x="39087" y="23702"/>
                </a:lnTo>
                <a:lnTo>
                  <a:pt x="38853" y="24679"/>
                </a:lnTo>
                <a:lnTo>
                  <a:pt x="38579" y="25616"/>
                </a:lnTo>
                <a:lnTo>
                  <a:pt x="38267" y="26514"/>
                </a:lnTo>
                <a:lnTo>
                  <a:pt x="37915" y="27412"/>
                </a:lnTo>
                <a:lnTo>
                  <a:pt x="37525" y="28310"/>
                </a:lnTo>
                <a:lnTo>
                  <a:pt x="37095" y="29130"/>
                </a:lnTo>
                <a:lnTo>
                  <a:pt x="36627" y="29989"/>
                </a:lnTo>
                <a:lnTo>
                  <a:pt x="36119" y="30770"/>
                </a:lnTo>
                <a:lnTo>
                  <a:pt x="35573" y="31551"/>
                </a:lnTo>
                <a:lnTo>
                  <a:pt x="34987" y="32293"/>
                </a:lnTo>
                <a:lnTo>
                  <a:pt x="34362" y="32996"/>
                </a:lnTo>
                <a:lnTo>
                  <a:pt x="33698" y="33698"/>
                </a:lnTo>
                <a:lnTo>
                  <a:pt x="32995" y="34362"/>
                </a:lnTo>
                <a:lnTo>
                  <a:pt x="32293" y="34948"/>
                </a:lnTo>
                <a:lnTo>
                  <a:pt x="31551" y="35534"/>
                </a:lnTo>
                <a:lnTo>
                  <a:pt x="30770" y="36119"/>
                </a:lnTo>
                <a:lnTo>
                  <a:pt x="29989" y="36627"/>
                </a:lnTo>
                <a:lnTo>
                  <a:pt x="29130" y="37096"/>
                </a:lnTo>
                <a:lnTo>
                  <a:pt x="28310" y="37525"/>
                </a:lnTo>
                <a:lnTo>
                  <a:pt x="27412" y="37916"/>
                </a:lnTo>
                <a:lnTo>
                  <a:pt x="26514" y="38267"/>
                </a:lnTo>
                <a:lnTo>
                  <a:pt x="25615" y="38579"/>
                </a:lnTo>
                <a:lnTo>
                  <a:pt x="24678" y="38853"/>
                </a:lnTo>
                <a:lnTo>
                  <a:pt x="23702" y="39087"/>
                </a:lnTo>
                <a:lnTo>
                  <a:pt x="22765" y="39243"/>
                </a:lnTo>
                <a:lnTo>
                  <a:pt x="21750" y="39360"/>
                </a:lnTo>
                <a:lnTo>
                  <a:pt x="20774" y="39438"/>
                </a:lnTo>
                <a:lnTo>
                  <a:pt x="19758" y="39477"/>
                </a:lnTo>
                <a:lnTo>
                  <a:pt x="19758" y="39477"/>
                </a:lnTo>
                <a:lnTo>
                  <a:pt x="18743" y="39438"/>
                </a:lnTo>
                <a:lnTo>
                  <a:pt x="17728" y="39360"/>
                </a:lnTo>
                <a:lnTo>
                  <a:pt x="16752" y="39243"/>
                </a:lnTo>
                <a:lnTo>
                  <a:pt x="15776" y="39087"/>
                </a:lnTo>
                <a:lnTo>
                  <a:pt x="14799" y="38853"/>
                </a:lnTo>
                <a:lnTo>
                  <a:pt x="13862" y="38579"/>
                </a:lnTo>
                <a:lnTo>
                  <a:pt x="12964" y="38267"/>
                </a:lnTo>
                <a:lnTo>
                  <a:pt x="12066" y="37916"/>
                </a:lnTo>
                <a:lnTo>
                  <a:pt x="11168" y="37525"/>
                </a:lnTo>
                <a:lnTo>
                  <a:pt x="10348" y="37096"/>
                </a:lnTo>
                <a:lnTo>
                  <a:pt x="9489" y="36627"/>
                </a:lnTo>
                <a:lnTo>
                  <a:pt x="8708" y="36119"/>
                </a:lnTo>
                <a:lnTo>
                  <a:pt x="7927" y="35534"/>
                </a:lnTo>
                <a:lnTo>
                  <a:pt x="7185" y="34948"/>
                </a:lnTo>
                <a:lnTo>
                  <a:pt x="6482" y="34362"/>
                </a:lnTo>
                <a:lnTo>
                  <a:pt x="5779" y="33698"/>
                </a:lnTo>
                <a:lnTo>
                  <a:pt x="5116" y="32996"/>
                </a:lnTo>
                <a:lnTo>
                  <a:pt x="4530" y="32293"/>
                </a:lnTo>
                <a:lnTo>
                  <a:pt x="3905" y="31551"/>
                </a:lnTo>
                <a:lnTo>
                  <a:pt x="3358" y="30770"/>
                </a:lnTo>
                <a:lnTo>
                  <a:pt x="2851" y="29989"/>
                </a:lnTo>
                <a:lnTo>
                  <a:pt x="2382" y="29130"/>
                </a:lnTo>
                <a:lnTo>
                  <a:pt x="1953" y="28310"/>
                </a:lnTo>
                <a:lnTo>
                  <a:pt x="1562" y="27412"/>
                </a:lnTo>
                <a:lnTo>
                  <a:pt x="1211" y="26514"/>
                </a:lnTo>
                <a:lnTo>
                  <a:pt x="898" y="25616"/>
                </a:lnTo>
                <a:lnTo>
                  <a:pt x="625" y="24679"/>
                </a:lnTo>
                <a:lnTo>
                  <a:pt x="391" y="23702"/>
                </a:lnTo>
                <a:lnTo>
                  <a:pt x="235" y="22726"/>
                </a:lnTo>
                <a:lnTo>
                  <a:pt x="117" y="21750"/>
                </a:lnTo>
                <a:lnTo>
                  <a:pt x="39" y="20735"/>
                </a:lnTo>
                <a:lnTo>
                  <a:pt x="0" y="19720"/>
                </a:lnTo>
                <a:lnTo>
                  <a:pt x="0" y="19720"/>
                </a:lnTo>
                <a:lnTo>
                  <a:pt x="39" y="18704"/>
                </a:lnTo>
                <a:lnTo>
                  <a:pt x="117" y="17728"/>
                </a:lnTo>
                <a:lnTo>
                  <a:pt x="235" y="16713"/>
                </a:lnTo>
                <a:lnTo>
                  <a:pt x="391" y="15776"/>
                </a:lnTo>
                <a:lnTo>
                  <a:pt x="625" y="14800"/>
                </a:lnTo>
                <a:lnTo>
                  <a:pt x="898" y="13862"/>
                </a:lnTo>
                <a:lnTo>
                  <a:pt x="1211" y="12964"/>
                </a:lnTo>
                <a:lnTo>
                  <a:pt x="1562" y="12066"/>
                </a:lnTo>
                <a:lnTo>
                  <a:pt x="1953" y="11168"/>
                </a:lnTo>
                <a:lnTo>
                  <a:pt x="2382" y="10309"/>
                </a:lnTo>
                <a:lnTo>
                  <a:pt x="2851" y="9489"/>
                </a:lnTo>
                <a:lnTo>
                  <a:pt x="3358" y="8708"/>
                </a:lnTo>
                <a:lnTo>
                  <a:pt x="3905" y="7927"/>
                </a:lnTo>
                <a:lnTo>
                  <a:pt x="4530" y="7185"/>
                </a:lnTo>
                <a:lnTo>
                  <a:pt x="5116" y="6482"/>
                </a:lnTo>
                <a:lnTo>
                  <a:pt x="5779" y="5780"/>
                </a:lnTo>
                <a:lnTo>
                  <a:pt x="6482" y="5116"/>
                </a:lnTo>
                <a:lnTo>
                  <a:pt x="7185" y="4491"/>
                </a:lnTo>
                <a:lnTo>
                  <a:pt x="7927" y="3905"/>
                </a:lnTo>
                <a:lnTo>
                  <a:pt x="8708" y="3359"/>
                </a:lnTo>
                <a:lnTo>
                  <a:pt x="9489" y="2851"/>
                </a:lnTo>
                <a:lnTo>
                  <a:pt x="10348" y="2382"/>
                </a:lnTo>
                <a:lnTo>
                  <a:pt x="11168" y="1953"/>
                </a:lnTo>
                <a:lnTo>
                  <a:pt x="12066" y="1562"/>
                </a:lnTo>
                <a:lnTo>
                  <a:pt x="12964" y="1211"/>
                </a:lnTo>
                <a:lnTo>
                  <a:pt x="13862" y="899"/>
                </a:lnTo>
                <a:lnTo>
                  <a:pt x="14799" y="625"/>
                </a:lnTo>
                <a:lnTo>
                  <a:pt x="15776" y="391"/>
                </a:lnTo>
                <a:lnTo>
                  <a:pt x="16752" y="235"/>
                </a:lnTo>
                <a:lnTo>
                  <a:pt x="17728" y="118"/>
                </a:lnTo>
                <a:lnTo>
                  <a:pt x="18743" y="40"/>
                </a:lnTo>
                <a:lnTo>
                  <a:pt x="19758" y="1"/>
                </a:lnTo>
                <a:lnTo>
                  <a:pt x="19758" y="1"/>
                </a:lnTo>
                <a:lnTo>
                  <a:pt x="20774" y="40"/>
                </a:lnTo>
                <a:lnTo>
                  <a:pt x="21750" y="118"/>
                </a:lnTo>
                <a:lnTo>
                  <a:pt x="22765" y="235"/>
                </a:lnTo>
                <a:lnTo>
                  <a:pt x="23702" y="391"/>
                </a:lnTo>
                <a:lnTo>
                  <a:pt x="24678" y="625"/>
                </a:lnTo>
                <a:lnTo>
                  <a:pt x="25615" y="899"/>
                </a:lnTo>
                <a:lnTo>
                  <a:pt x="26514" y="1211"/>
                </a:lnTo>
                <a:lnTo>
                  <a:pt x="27412" y="1562"/>
                </a:lnTo>
                <a:lnTo>
                  <a:pt x="28310" y="1953"/>
                </a:lnTo>
                <a:lnTo>
                  <a:pt x="29130" y="2382"/>
                </a:lnTo>
                <a:lnTo>
                  <a:pt x="29989" y="2851"/>
                </a:lnTo>
                <a:lnTo>
                  <a:pt x="30770" y="3359"/>
                </a:lnTo>
                <a:lnTo>
                  <a:pt x="31551" y="3905"/>
                </a:lnTo>
                <a:lnTo>
                  <a:pt x="32293" y="4491"/>
                </a:lnTo>
                <a:lnTo>
                  <a:pt x="32995" y="5116"/>
                </a:lnTo>
                <a:lnTo>
                  <a:pt x="33698" y="5780"/>
                </a:lnTo>
                <a:lnTo>
                  <a:pt x="34362" y="6482"/>
                </a:lnTo>
                <a:lnTo>
                  <a:pt x="34987" y="7185"/>
                </a:lnTo>
                <a:lnTo>
                  <a:pt x="35573" y="7927"/>
                </a:lnTo>
                <a:lnTo>
                  <a:pt x="36119" y="8708"/>
                </a:lnTo>
                <a:lnTo>
                  <a:pt x="36627" y="9489"/>
                </a:lnTo>
                <a:lnTo>
                  <a:pt x="37095" y="10309"/>
                </a:lnTo>
                <a:lnTo>
                  <a:pt x="37525" y="11168"/>
                </a:lnTo>
                <a:lnTo>
                  <a:pt x="37915" y="12066"/>
                </a:lnTo>
                <a:lnTo>
                  <a:pt x="38267" y="12964"/>
                </a:lnTo>
                <a:lnTo>
                  <a:pt x="38579" y="13862"/>
                </a:lnTo>
                <a:lnTo>
                  <a:pt x="38853" y="14800"/>
                </a:lnTo>
                <a:lnTo>
                  <a:pt x="39087" y="15776"/>
                </a:lnTo>
                <a:lnTo>
                  <a:pt x="39243" y="16713"/>
                </a:lnTo>
                <a:lnTo>
                  <a:pt x="39360" y="17728"/>
                </a:lnTo>
                <a:lnTo>
                  <a:pt x="39438" y="18704"/>
                </a:lnTo>
                <a:lnTo>
                  <a:pt x="39477" y="19720"/>
                </a:lnTo>
                <a:lnTo>
                  <a:pt x="39477" y="19720"/>
                </a:lnTo>
                <a:close/>
              </a:path>
            </a:pathLst>
          </a:custGeom>
          <a:noFill/>
          <a:ln w="234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1" name="Google Shape;2021;p35"/>
          <p:cNvSpPr/>
          <p:nvPr/>
        </p:nvSpPr>
        <p:spPr>
          <a:xfrm rot="10800000">
            <a:off x="8367144" y="4142370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22" name="Google Shape;2022;p35"/>
          <p:cNvGrpSpPr/>
          <p:nvPr/>
        </p:nvGrpSpPr>
        <p:grpSpPr>
          <a:xfrm rot="10800000" flipH="1">
            <a:off x="359957" y="4770143"/>
            <a:ext cx="1051274" cy="787312"/>
            <a:chOff x="3585475" y="1537675"/>
            <a:chExt cx="649175" cy="486175"/>
          </a:xfrm>
        </p:grpSpPr>
        <p:sp>
          <p:nvSpPr>
            <p:cNvPr id="2023" name="Google Shape;2023;p35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35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35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35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35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35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35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35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35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35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35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35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35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35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35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35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35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35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35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35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43" name="Google Shape;2043;p35"/>
          <p:cNvGrpSpPr/>
          <p:nvPr/>
        </p:nvGrpSpPr>
        <p:grpSpPr>
          <a:xfrm rot="10800000" flipH="1">
            <a:off x="7633694" y="-423544"/>
            <a:ext cx="1051274" cy="787312"/>
            <a:chOff x="3585475" y="1537675"/>
            <a:chExt cx="649175" cy="486175"/>
          </a:xfrm>
        </p:grpSpPr>
        <p:sp>
          <p:nvSpPr>
            <p:cNvPr id="2044" name="Google Shape;2044;p35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35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35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35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35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35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35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35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35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35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35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35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35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35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35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35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35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35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35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35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ONE_COLUMN_TEXT_1">
    <p:spTree>
      <p:nvGrpSpPr>
        <p:cNvPr id="1" name="Shape 2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5" name="Google Shape;2065;p36"/>
          <p:cNvGrpSpPr/>
          <p:nvPr/>
        </p:nvGrpSpPr>
        <p:grpSpPr>
          <a:xfrm>
            <a:off x="7230635" y="826618"/>
            <a:ext cx="4287930" cy="3642388"/>
            <a:chOff x="4611450" y="3151300"/>
            <a:chExt cx="667725" cy="567200"/>
          </a:xfrm>
        </p:grpSpPr>
        <p:sp>
          <p:nvSpPr>
            <p:cNvPr id="2066" name="Google Shape;2066;p36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36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36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36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36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36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36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36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36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36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36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36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36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79" name="Google Shape;2079;p36"/>
          <p:cNvGrpSpPr/>
          <p:nvPr/>
        </p:nvGrpSpPr>
        <p:grpSpPr>
          <a:xfrm>
            <a:off x="-2374565" y="826618"/>
            <a:ext cx="4287930" cy="3642388"/>
            <a:chOff x="4611450" y="3151300"/>
            <a:chExt cx="667725" cy="567200"/>
          </a:xfrm>
        </p:grpSpPr>
        <p:sp>
          <p:nvSpPr>
            <p:cNvPr id="2080" name="Google Shape;2080;p36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36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36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36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36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36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36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36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36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36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36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36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36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93" name="Google Shape;2093;p36"/>
          <p:cNvSpPr/>
          <p:nvPr/>
        </p:nvSpPr>
        <p:spPr>
          <a:xfrm flipH="1">
            <a:off x="-969025" y="3816700"/>
            <a:ext cx="2148195" cy="2148195"/>
          </a:xfrm>
          <a:custGeom>
            <a:avLst/>
            <a:gdLst/>
            <a:ahLst/>
            <a:cxnLst/>
            <a:rect l="l" t="t" r="r" b="b"/>
            <a:pathLst>
              <a:path w="39478" h="39478" fill="none" extrusionOk="0">
                <a:moveTo>
                  <a:pt x="39477" y="19720"/>
                </a:moveTo>
                <a:lnTo>
                  <a:pt x="39477" y="19720"/>
                </a:lnTo>
                <a:lnTo>
                  <a:pt x="39438" y="20735"/>
                </a:lnTo>
                <a:lnTo>
                  <a:pt x="39360" y="21750"/>
                </a:lnTo>
                <a:lnTo>
                  <a:pt x="39243" y="22726"/>
                </a:lnTo>
                <a:lnTo>
                  <a:pt x="39087" y="23702"/>
                </a:lnTo>
                <a:lnTo>
                  <a:pt x="38853" y="24679"/>
                </a:lnTo>
                <a:lnTo>
                  <a:pt x="38579" y="25616"/>
                </a:lnTo>
                <a:lnTo>
                  <a:pt x="38267" y="26514"/>
                </a:lnTo>
                <a:lnTo>
                  <a:pt x="37915" y="27412"/>
                </a:lnTo>
                <a:lnTo>
                  <a:pt x="37525" y="28310"/>
                </a:lnTo>
                <a:lnTo>
                  <a:pt x="37095" y="29130"/>
                </a:lnTo>
                <a:lnTo>
                  <a:pt x="36627" y="29989"/>
                </a:lnTo>
                <a:lnTo>
                  <a:pt x="36119" y="30770"/>
                </a:lnTo>
                <a:lnTo>
                  <a:pt x="35573" y="31551"/>
                </a:lnTo>
                <a:lnTo>
                  <a:pt x="34987" y="32293"/>
                </a:lnTo>
                <a:lnTo>
                  <a:pt x="34362" y="32996"/>
                </a:lnTo>
                <a:lnTo>
                  <a:pt x="33698" y="33698"/>
                </a:lnTo>
                <a:lnTo>
                  <a:pt x="32995" y="34362"/>
                </a:lnTo>
                <a:lnTo>
                  <a:pt x="32293" y="34948"/>
                </a:lnTo>
                <a:lnTo>
                  <a:pt x="31551" y="35534"/>
                </a:lnTo>
                <a:lnTo>
                  <a:pt x="30770" y="36119"/>
                </a:lnTo>
                <a:lnTo>
                  <a:pt x="29989" y="36627"/>
                </a:lnTo>
                <a:lnTo>
                  <a:pt x="29130" y="37096"/>
                </a:lnTo>
                <a:lnTo>
                  <a:pt x="28310" y="37525"/>
                </a:lnTo>
                <a:lnTo>
                  <a:pt x="27412" y="37916"/>
                </a:lnTo>
                <a:lnTo>
                  <a:pt x="26514" y="38267"/>
                </a:lnTo>
                <a:lnTo>
                  <a:pt x="25615" y="38579"/>
                </a:lnTo>
                <a:lnTo>
                  <a:pt x="24678" y="38853"/>
                </a:lnTo>
                <a:lnTo>
                  <a:pt x="23702" y="39087"/>
                </a:lnTo>
                <a:lnTo>
                  <a:pt x="22765" y="39243"/>
                </a:lnTo>
                <a:lnTo>
                  <a:pt x="21750" y="39360"/>
                </a:lnTo>
                <a:lnTo>
                  <a:pt x="20774" y="39438"/>
                </a:lnTo>
                <a:lnTo>
                  <a:pt x="19758" y="39477"/>
                </a:lnTo>
                <a:lnTo>
                  <a:pt x="19758" y="39477"/>
                </a:lnTo>
                <a:lnTo>
                  <a:pt x="18743" y="39438"/>
                </a:lnTo>
                <a:lnTo>
                  <a:pt x="17728" y="39360"/>
                </a:lnTo>
                <a:lnTo>
                  <a:pt x="16752" y="39243"/>
                </a:lnTo>
                <a:lnTo>
                  <a:pt x="15776" y="39087"/>
                </a:lnTo>
                <a:lnTo>
                  <a:pt x="14799" y="38853"/>
                </a:lnTo>
                <a:lnTo>
                  <a:pt x="13862" y="38579"/>
                </a:lnTo>
                <a:lnTo>
                  <a:pt x="12964" y="38267"/>
                </a:lnTo>
                <a:lnTo>
                  <a:pt x="12066" y="37916"/>
                </a:lnTo>
                <a:lnTo>
                  <a:pt x="11168" y="37525"/>
                </a:lnTo>
                <a:lnTo>
                  <a:pt x="10348" y="37096"/>
                </a:lnTo>
                <a:lnTo>
                  <a:pt x="9489" y="36627"/>
                </a:lnTo>
                <a:lnTo>
                  <a:pt x="8708" y="36119"/>
                </a:lnTo>
                <a:lnTo>
                  <a:pt x="7927" y="35534"/>
                </a:lnTo>
                <a:lnTo>
                  <a:pt x="7185" y="34948"/>
                </a:lnTo>
                <a:lnTo>
                  <a:pt x="6482" y="34362"/>
                </a:lnTo>
                <a:lnTo>
                  <a:pt x="5779" y="33698"/>
                </a:lnTo>
                <a:lnTo>
                  <a:pt x="5116" y="32996"/>
                </a:lnTo>
                <a:lnTo>
                  <a:pt x="4530" y="32293"/>
                </a:lnTo>
                <a:lnTo>
                  <a:pt x="3905" y="31551"/>
                </a:lnTo>
                <a:lnTo>
                  <a:pt x="3358" y="30770"/>
                </a:lnTo>
                <a:lnTo>
                  <a:pt x="2851" y="29989"/>
                </a:lnTo>
                <a:lnTo>
                  <a:pt x="2382" y="29130"/>
                </a:lnTo>
                <a:lnTo>
                  <a:pt x="1953" y="28310"/>
                </a:lnTo>
                <a:lnTo>
                  <a:pt x="1562" y="27412"/>
                </a:lnTo>
                <a:lnTo>
                  <a:pt x="1211" y="26514"/>
                </a:lnTo>
                <a:lnTo>
                  <a:pt x="898" y="25616"/>
                </a:lnTo>
                <a:lnTo>
                  <a:pt x="625" y="24679"/>
                </a:lnTo>
                <a:lnTo>
                  <a:pt x="391" y="23702"/>
                </a:lnTo>
                <a:lnTo>
                  <a:pt x="235" y="22726"/>
                </a:lnTo>
                <a:lnTo>
                  <a:pt x="117" y="21750"/>
                </a:lnTo>
                <a:lnTo>
                  <a:pt x="39" y="20735"/>
                </a:lnTo>
                <a:lnTo>
                  <a:pt x="0" y="19720"/>
                </a:lnTo>
                <a:lnTo>
                  <a:pt x="0" y="19720"/>
                </a:lnTo>
                <a:lnTo>
                  <a:pt x="39" y="18704"/>
                </a:lnTo>
                <a:lnTo>
                  <a:pt x="117" y="17728"/>
                </a:lnTo>
                <a:lnTo>
                  <a:pt x="235" y="16713"/>
                </a:lnTo>
                <a:lnTo>
                  <a:pt x="391" y="15776"/>
                </a:lnTo>
                <a:lnTo>
                  <a:pt x="625" y="14800"/>
                </a:lnTo>
                <a:lnTo>
                  <a:pt x="898" y="13862"/>
                </a:lnTo>
                <a:lnTo>
                  <a:pt x="1211" y="12964"/>
                </a:lnTo>
                <a:lnTo>
                  <a:pt x="1562" y="12066"/>
                </a:lnTo>
                <a:lnTo>
                  <a:pt x="1953" y="11168"/>
                </a:lnTo>
                <a:lnTo>
                  <a:pt x="2382" y="10309"/>
                </a:lnTo>
                <a:lnTo>
                  <a:pt x="2851" y="9489"/>
                </a:lnTo>
                <a:lnTo>
                  <a:pt x="3358" y="8708"/>
                </a:lnTo>
                <a:lnTo>
                  <a:pt x="3905" y="7927"/>
                </a:lnTo>
                <a:lnTo>
                  <a:pt x="4530" y="7185"/>
                </a:lnTo>
                <a:lnTo>
                  <a:pt x="5116" y="6482"/>
                </a:lnTo>
                <a:lnTo>
                  <a:pt x="5779" y="5780"/>
                </a:lnTo>
                <a:lnTo>
                  <a:pt x="6482" y="5116"/>
                </a:lnTo>
                <a:lnTo>
                  <a:pt x="7185" y="4491"/>
                </a:lnTo>
                <a:lnTo>
                  <a:pt x="7927" y="3905"/>
                </a:lnTo>
                <a:lnTo>
                  <a:pt x="8708" y="3359"/>
                </a:lnTo>
                <a:lnTo>
                  <a:pt x="9489" y="2851"/>
                </a:lnTo>
                <a:lnTo>
                  <a:pt x="10348" y="2382"/>
                </a:lnTo>
                <a:lnTo>
                  <a:pt x="11168" y="1953"/>
                </a:lnTo>
                <a:lnTo>
                  <a:pt x="12066" y="1562"/>
                </a:lnTo>
                <a:lnTo>
                  <a:pt x="12964" y="1211"/>
                </a:lnTo>
                <a:lnTo>
                  <a:pt x="13862" y="899"/>
                </a:lnTo>
                <a:lnTo>
                  <a:pt x="14799" y="625"/>
                </a:lnTo>
                <a:lnTo>
                  <a:pt x="15776" y="391"/>
                </a:lnTo>
                <a:lnTo>
                  <a:pt x="16752" y="235"/>
                </a:lnTo>
                <a:lnTo>
                  <a:pt x="17728" y="118"/>
                </a:lnTo>
                <a:lnTo>
                  <a:pt x="18743" y="40"/>
                </a:lnTo>
                <a:lnTo>
                  <a:pt x="19758" y="1"/>
                </a:lnTo>
                <a:lnTo>
                  <a:pt x="19758" y="1"/>
                </a:lnTo>
                <a:lnTo>
                  <a:pt x="20774" y="40"/>
                </a:lnTo>
                <a:lnTo>
                  <a:pt x="21750" y="118"/>
                </a:lnTo>
                <a:lnTo>
                  <a:pt x="22765" y="235"/>
                </a:lnTo>
                <a:lnTo>
                  <a:pt x="23702" y="391"/>
                </a:lnTo>
                <a:lnTo>
                  <a:pt x="24678" y="625"/>
                </a:lnTo>
                <a:lnTo>
                  <a:pt x="25615" y="899"/>
                </a:lnTo>
                <a:lnTo>
                  <a:pt x="26514" y="1211"/>
                </a:lnTo>
                <a:lnTo>
                  <a:pt x="27412" y="1562"/>
                </a:lnTo>
                <a:lnTo>
                  <a:pt x="28310" y="1953"/>
                </a:lnTo>
                <a:lnTo>
                  <a:pt x="29130" y="2382"/>
                </a:lnTo>
                <a:lnTo>
                  <a:pt x="29989" y="2851"/>
                </a:lnTo>
                <a:lnTo>
                  <a:pt x="30770" y="3359"/>
                </a:lnTo>
                <a:lnTo>
                  <a:pt x="31551" y="3905"/>
                </a:lnTo>
                <a:lnTo>
                  <a:pt x="32293" y="4491"/>
                </a:lnTo>
                <a:lnTo>
                  <a:pt x="32995" y="5116"/>
                </a:lnTo>
                <a:lnTo>
                  <a:pt x="33698" y="5780"/>
                </a:lnTo>
                <a:lnTo>
                  <a:pt x="34362" y="6482"/>
                </a:lnTo>
                <a:lnTo>
                  <a:pt x="34987" y="7185"/>
                </a:lnTo>
                <a:lnTo>
                  <a:pt x="35573" y="7927"/>
                </a:lnTo>
                <a:lnTo>
                  <a:pt x="36119" y="8708"/>
                </a:lnTo>
                <a:lnTo>
                  <a:pt x="36627" y="9489"/>
                </a:lnTo>
                <a:lnTo>
                  <a:pt x="37095" y="10309"/>
                </a:lnTo>
                <a:lnTo>
                  <a:pt x="37525" y="11168"/>
                </a:lnTo>
                <a:lnTo>
                  <a:pt x="37915" y="12066"/>
                </a:lnTo>
                <a:lnTo>
                  <a:pt x="38267" y="12964"/>
                </a:lnTo>
                <a:lnTo>
                  <a:pt x="38579" y="13862"/>
                </a:lnTo>
                <a:lnTo>
                  <a:pt x="38853" y="14800"/>
                </a:lnTo>
                <a:lnTo>
                  <a:pt x="39087" y="15776"/>
                </a:lnTo>
                <a:lnTo>
                  <a:pt x="39243" y="16713"/>
                </a:lnTo>
                <a:lnTo>
                  <a:pt x="39360" y="17728"/>
                </a:lnTo>
                <a:lnTo>
                  <a:pt x="39438" y="18704"/>
                </a:lnTo>
                <a:lnTo>
                  <a:pt x="39477" y="19720"/>
                </a:lnTo>
                <a:lnTo>
                  <a:pt x="39477" y="19720"/>
                </a:lnTo>
                <a:close/>
              </a:path>
            </a:pathLst>
          </a:custGeom>
          <a:noFill/>
          <a:ln w="234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4" name="Google Shape;2094;p36"/>
          <p:cNvSpPr/>
          <p:nvPr/>
        </p:nvSpPr>
        <p:spPr>
          <a:xfrm flipH="1">
            <a:off x="8148019" y="-395873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5" name="Google Shape;2095;p36"/>
          <p:cNvSpPr/>
          <p:nvPr/>
        </p:nvSpPr>
        <p:spPr>
          <a:xfrm flipH="1">
            <a:off x="7851617" y="623875"/>
            <a:ext cx="786451" cy="78728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96" name="Google Shape;2096;p36"/>
          <p:cNvGrpSpPr/>
          <p:nvPr/>
        </p:nvGrpSpPr>
        <p:grpSpPr>
          <a:xfrm>
            <a:off x="514482" y="518776"/>
            <a:ext cx="1051274" cy="787312"/>
            <a:chOff x="3585475" y="1537675"/>
            <a:chExt cx="649175" cy="486175"/>
          </a:xfrm>
        </p:grpSpPr>
        <p:sp>
          <p:nvSpPr>
            <p:cNvPr id="2097" name="Google Shape;2097;p36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36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36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36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36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36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36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36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36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36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36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36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36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36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36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36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36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36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36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36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17" name="Google Shape;2117;p36"/>
          <p:cNvGrpSpPr/>
          <p:nvPr/>
        </p:nvGrpSpPr>
        <p:grpSpPr>
          <a:xfrm>
            <a:off x="7523332" y="3991726"/>
            <a:ext cx="1051274" cy="787312"/>
            <a:chOff x="3585475" y="1537675"/>
            <a:chExt cx="649175" cy="486175"/>
          </a:xfrm>
        </p:grpSpPr>
        <p:sp>
          <p:nvSpPr>
            <p:cNvPr id="2118" name="Google Shape;2118;p36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36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36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36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36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36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36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36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36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36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36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36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36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36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36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36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36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36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36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36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LANK_1_1_1">
    <p:spTree>
      <p:nvGrpSpPr>
        <p:cNvPr id="1" name="Shape 2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9" name="Google Shape;2139;p37"/>
          <p:cNvGrpSpPr/>
          <p:nvPr/>
        </p:nvGrpSpPr>
        <p:grpSpPr>
          <a:xfrm>
            <a:off x="7799282" y="2074226"/>
            <a:ext cx="1051274" cy="787312"/>
            <a:chOff x="3585475" y="1537675"/>
            <a:chExt cx="649175" cy="486175"/>
          </a:xfrm>
        </p:grpSpPr>
        <p:sp>
          <p:nvSpPr>
            <p:cNvPr id="2140" name="Google Shape;2140;p37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37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37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37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37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37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37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37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37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37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37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37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37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37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37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37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37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37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37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37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0" name="Google Shape;2160;p37"/>
          <p:cNvGrpSpPr/>
          <p:nvPr/>
        </p:nvGrpSpPr>
        <p:grpSpPr>
          <a:xfrm>
            <a:off x="293445" y="2074226"/>
            <a:ext cx="1051274" cy="787312"/>
            <a:chOff x="3585475" y="1537675"/>
            <a:chExt cx="649175" cy="486175"/>
          </a:xfrm>
        </p:grpSpPr>
        <p:sp>
          <p:nvSpPr>
            <p:cNvPr id="2161" name="Google Shape;2161;p37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37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37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37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37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37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37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37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37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37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37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37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37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37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37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37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37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37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37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37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81" name="Google Shape;2181;p37"/>
          <p:cNvSpPr/>
          <p:nvPr/>
        </p:nvSpPr>
        <p:spPr>
          <a:xfrm>
            <a:off x="3227875" y="4385403"/>
            <a:ext cx="2688246" cy="2688296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82" name="Google Shape;2182;p37"/>
          <p:cNvGrpSpPr/>
          <p:nvPr/>
        </p:nvGrpSpPr>
        <p:grpSpPr>
          <a:xfrm>
            <a:off x="2399960" y="871118"/>
            <a:ext cx="4287930" cy="3642388"/>
            <a:chOff x="4611450" y="3151300"/>
            <a:chExt cx="667725" cy="567200"/>
          </a:xfrm>
        </p:grpSpPr>
        <p:sp>
          <p:nvSpPr>
            <p:cNvPr id="2183" name="Google Shape;2183;p37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37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37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37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37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37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37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37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37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37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37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37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37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96" name="Google Shape;2196;p37"/>
          <p:cNvSpPr/>
          <p:nvPr/>
        </p:nvSpPr>
        <p:spPr>
          <a:xfrm>
            <a:off x="3161643" y="-1861624"/>
            <a:ext cx="2820666" cy="282364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4953000" y="4629150"/>
            <a:ext cx="4343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www.pantechsolutions.net</a:t>
            </a:r>
          </a:p>
          <a:p>
            <a:pPr>
              <a:defRPr/>
            </a:pPr>
            <a:r>
              <a:rPr lang="en-US" dirty="0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095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72" r:id="rId3"/>
    <p:sldLayoutId id="2147483681" r:id="rId4"/>
    <p:sldLayoutId id="2147483682" r:id="rId5"/>
    <p:sldLayoutId id="2147483683" r:id="rId6"/>
    <p:sldLayoutId id="2147483687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5" name="Google Shape;2205;p40"/>
          <p:cNvSpPr txBox="1">
            <a:spLocks noGrp="1"/>
          </p:cNvSpPr>
          <p:nvPr>
            <p:ph type="ctrTitle"/>
          </p:nvPr>
        </p:nvSpPr>
        <p:spPr>
          <a:xfrm>
            <a:off x="1873037" y="312994"/>
            <a:ext cx="6736302" cy="261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4000" dirty="0" smtClean="0"/>
              <a:t>Interface LCD with PIC</a:t>
            </a:r>
            <a:endParaRPr sz="4000" dirty="0"/>
          </a:p>
        </p:txBody>
      </p:sp>
      <p:sp>
        <p:nvSpPr>
          <p:cNvPr id="2206" name="Google Shape;2206;p40"/>
          <p:cNvSpPr txBox="1">
            <a:spLocks noGrp="1"/>
          </p:cNvSpPr>
          <p:nvPr>
            <p:ph type="subTitle" idx="1"/>
          </p:nvPr>
        </p:nvSpPr>
        <p:spPr>
          <a:xfrm>
            <a:off x="3241963" y="3620121"/>
            <a:ext cx="5140037" cy="47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" sz="1600" dirty="0"/>
              <a:t>EMBEDDED SYSTEM </a:t>
            </a:r>
            <a:r>
              <a:rPr lang="en" sz="1600" dirty="0" smtClean="0"/>
              <a:t>DESIGN &amp; IoT-Master Class</a:t>
            </a:r>
            <a:endParaRPr sz="1600" dirty="0"/>
          </a:p>
        </p:txBody>
      </p:sp>
      <p:sp>
        <p:nvSpPr>
          <p:cNvPr id="2208" name="Google Shape;2208;p40"/>
          <p:cNvSpPr/>
          <p:nvPr/>
        </p:nvSpPr>
        <p:spPr>
          <a:xfrm flipH="1">
            <a:off x="-77280" y="4354934"/>
            <a:ext cx="2785365" cy="2785308"/>
          </a:xfrm>
          <a:custGeom>
            <a:avLst/>
            <a:gdLst/>
            <a:ahLst/>
            <a:cxnLst/>
            <a:rect l="l" t="t" r="r" b="b"/>
            <a:pathLst>
              <a:path w="48967" h="48966" extrusionOk="0">
                <a:moveTo>
                  <a:pt x="24484" y="0"/>
                </a:moveTo>
                <a:lnTo>
                  <a:pt x="23234" y="39"/>
                </a:lnTo>
                <a:lnTo>
                  <a:pt x="21985" y="117"/>
                </a:lnTo>
                <a:lnTo>
                  <a:pt x="20774" y="274"/>
                </a:lnTo>
                <a:lnTo>
                  <a:pt x="19564" y="508"/>
                </a:lnTo>
                <a:lnTo>
                  <a:pt x="18392" y="781"/>
                </a:lnTo>
                <a:lnTo>
                  <a:pt x="17221" y="1094"/>
                </a:lnTo>
                <a:lnTo>
                  <a:pt x="16088" y="1484"/>
                </a:lnTo>
                <a:lnTo>
                  <a:pt x="14956" y="1914"/>
                </a:lnTo>
                <a:lnTo>
                  <a:pt x="13902" y="2421"/>
                </a:lnTo>
                <a:lnTo>
                  <a:pt x="12848" y="2968"/>
                </a:lnTo>
                <a:lnTo>
                  <a:pt x="11793" y="3554"/>
                </a:lnTo>
                <a:lnTo>
                  <a:pt x="10817" y="4178"/>
                </a:lnTo>
                <a:lnTo>
                  <a:pt x="9841" y="4881"/>
                </a:lnTo>
                <a:lnTo>
                  <a:pt x="8943" y="5584"/>
                </a:lnTo>
                <a:lnTo>
                  <a:pt x="8045" y="6365"/>
                </a:lnTo>
                <a:lnTo>
                  <a:pt x="7186" y="7185"/>
                </a:lnTo>
                <a:lnTo>
                  <a:pt x="6366" y="8005"/>
                </a:lnTo>
                <a:lnTo>
                  <a:pt x="5624" y="8903"/>
                </a:lnTo>
                <a:lnTo>
                  <a:pt x="4882" y="9840"/>
                </a:lnTo>
                <a:lnTo>
                  <a:pt x="4179" y="10777"/>
                </a:lnTo>
                <a:lnTo>
                  <a:pt x="3554" y="11793"/>
                </a:lnTo>
                <a:lnTo>
                  <a:pt x="2968" y="12808"/>
                </a:lnTo>
                <a:lnTo>
                  <a:pt x="2422" y="13862"/>
                </a:lnTo>
                <a:lnTo>
                  <a:pt x="1953" y="14955"/>
                </a:lnTo>
                <a:lnTo>
                  <a:pt x="1485" y="16049"/>
                </a:lnTo>
                <a:lnTo>
                  <a:pt x="1133" y="17181"/>
                </a:lnTo>
                <a:lnTo>
                  <a:pt x="782" y="18353"/>
                </a:lnTo>
                <a:lnTo>
                  <a:pt x="508" y="19563"/>
                </a:lnTo>
                <a:lnTo>
                  <a:pt x="313" y="20734"/>
                </a:lnTo>
                <a:lnTo>
                  <a:pt x="157" y="21984"/>
                </a:lnTo>
                <a:lnTo>
                  <a:pt x="40" y="23234"/>
                </a:lnTo>
                <a:lnTo>
                  <a:pt x="1" y="24483"/>
                </a:lnTo>
                <a:lnTo>
                  <a:pt x="40" y="25733"/>
                </a:lnTo>
                <a:lnTo>
                  <a:pt x="157" y="26982"/>
                </a:lnTo>
                <a:lnTo>
                  <a:pt x="313" y="28193"/>
                </a:lnTo>
                <a:lnTo>
                  <a:pt x="508" y="29403"/>
                </a:lnTo>
                <a:lnTo>
                  <a:pt x="782" y="30613"/>
                </a:lnTo>
                <a:lnTo>
                  <a:pt x="1133" y="31746"/>
                </a:lnTo>
                <a:lnTo>
                  <a:pt x="1485" y="32917"/>
                </a:lnTo>
                <a:lnTo>
                  <a:pt x="1953" y="34011"/>
                </a:lnTo>
                <a:lnTo>
                  <a:pt x="2422" y="35104"/>
                </a:lnTo>
                <a:lnTo>
                  <a:pt x="2968" y="36158"/>
                </a:lnTo>
                <a:lnTo>
                  <a:pt x="3554" y="37173"/>
                </a:lnTo>
                <a:lnTo>
                  <a:pt x="4179" y="38150"/>
                </a:lnTo>
                <a:lnTo>
                  <a:pt x="4882" y="39126"/>
                </a:lnTo>
                <a:lnTo>
                  <a:pt x="5624" y="40063"/>
                </a:lnTo>
                <a:lnTo>
                  <a:pt x="6366" y="40922"/>
                </a:lnTo>
                <a:lnTo>
                  <a:pt x="7186" y="41781"/>
                </a:lnTo>
                <a:lnTo>
                  <a:pt x="8045" y="42601"/>
                </a:lnTo>
                <a:lnTo>
                  <a:pt x="8943" y="43382"/>
                </a:lnTo>
                <a:lnTo>
                  <a:pt x="9841" y="44085"/>
                </a:lnTo>
                <a:lnTo>
                  <a:pt x="10817" y="44788"/>
                </a:lnTo>
                <a:lnTo>
                  <a:pt x="11793" y="45412"/>
                </a:lnTo>
                <a:lnTo>
                  <a:pt x="12848" y="45998"/>
                </a:lnTo>
                <a:lnTo>
                  <a:pt x="13902" y="46545"/>
                </a:lnTo>
                <a:lnTo>
                  <a:pt x="14956" y="47052"/>
                </a:lnTo>
                <a:lnTo>
                  <a:pt x="16088" y="47482"/>
                </a:lnTo>
                <a:lnTo>
                  <a:pt x="17221" y="47872"/>
                </a:lnTo>
                <a:lnTo>
                  <a:pt x="18392" y="48185"/>
                </a:lnTo>
                <a:lnTo>
                  <a:pt x="19564" y="48458"/>
                </a:lnTo>
                <a:lnTo>
                  <a:pt x="20774" y="48692"/>
                </a:lnTo>
                <a:lnTo>
                  <a:pt x="21985" y="48849"/>
                </a:lnTo>
                <a:lnTo>
                  <a:pt x="23234" y="48927"/>
                </a:lnTo>
                <a:lnTo>
                  <a:pt x="24484" y="48966"/>
                </a:lnTo>
                <a:lnTo>
                  <a:pt x="25772" y="48927"/>
                </a:lnTo>
                <a:lnTo>
                  <a:pt x="26983" y="48849"/>
                </a:lnTo>
                <a:lnTo>
                  <a:pt x="28232" y="48692"/>
                </a:lnTo>
                <a:lnTo>
                  <a:pt x="29443" y="48458"/>
                </a:lnTo>
                <a:lnTo>
                  <a:pt x="30614" y="48185"/>
                </a:lnTo>
                <a:lnTo>
                  <a:pt x="31786" y="47872"/>
                </a:lnTo>
                <a:lnTo>
                  <a:pt x="32918" y="47482"/>
                </a:lnTo>
                <a:lnTo>
                  <a:pt x="34011" y="47052"/>
                </a:lnTo>
                <a:lnTo>
                  <a:pt x="35105" y="46545"/>
                </a:lnTo>
                <a:lnTo>
                  <a:pt x="36159" y="45998"/>
                </a:lnTo>
                <a:lnTo>
                  <a:pt x="37174" y="45412"/>
                </a:lnTo>
                <a:lnTo>
                  <a:pt x="38189" y="44788"/>
                </a:lnTo>
                <a:lnTo>
                  <a:pt x="39127" y="44085"/>
                </a:lnTo>
                <a:lnTo>
                  <a:pt x="40064" y="43382"/>
                </a:lnTo>
                <a:lnTo>
                  <a:pt x="40962" y="42601"/>
                </a:lnTo>
                <a:lnTo>
                  <a:pt x="41821" y="41781"/>
                </a:lnTo>
                <a:lnTo>
                  <a:pt x="42602" y="40922"/>
                </a:lnTo>
                <a:lnTo>
                  <a:pt x="43383" y="40063"/>
                </a:lnTo>
                <a:lnTo>
                  <a:pt x="44125" y="39126"/>
                </a:lnTo>
                <a:lnTo>
                  <a:pt x="44788" y="38150"/>
                </a:lnTo>
                <a:lnTo>
                  <a:pt x="45452" y="37173"/>
                </a:lnTo>
                <a:lnTo>
                  <a:pt x="46038" y="36158"/>
                </a:lnTo>
                <a:lnTo>
                  <a:pt x="46546" y="35104"/>
                </a:lnTo>
                <a:lnTo>
                  <a:pt x="47053" y="34011"/>
                </a:lnTo>
                <a:lnTo>
                  <a:pt x="47483" y="32917"/>
                </a:lnTo>
                <a:lnTo>
                  <a:pt x="47873" y="31746"/>
                </a:lnTo>
                <a:lnTo>
                  <a:pt x="48225" y="30613"/>
                </a:lnTo>
                <a:lnTo>
                  <a:pt x="48498" y="29403"/>
                </a:lnTo>
                <a:lnTo>
                  <a:pt x="48693" y="28193"/>
                </a:lnTo>
                <a:lnTo>
                  <a:pt x="48849" y="26982"/>
                </a:lnTo>
                <a:lnTo>
                  <a:pt x="48966" y="25733"/>
                </a:lnTo>
                <a:lnTo>
                  <a:pt x="48966" y="24483"/>
                </a:lnTo>
                <a:lnTo>
                  <a:pt x="48966" y="23234"/>
                </a:lnTo>
                <a:lnTo>
                  <a:pt x="48849" y="21984"/>
                </a:lnTo>
                <a:lnTo>
                  <a:pt x="48693" y="20734"/>
                </a:lnTo>
                <a:lnTo>
                  <a:pt x="48498" y="19563"/>
                </a:lnTo>
                <a:lnTo>
                  <a:pt x="48225" y="18353"/>
                </a:lnTo>
                <a:lnTo>
                  <a:pt x="47873" y="17181"/>
                </a:lnTo>
                <a:lnTo>
                  <a:pt x="47483" y="16049"/>
                </a:lnTo>
                <a:lnTo>
                  <a:pt x="47053" y="14955"/>
                </a:lnTo>
                <a:lnTo>
                  <a:pt x="46546" y="13862"/>
                </a:lnTo>
                <a:lnTo>
                  <a:pt x="46038" y="12808"/>
                </a:lnTo>
                <a:lnTo>
                  <a:pt x="45452" y="11793"/>
                </a:lnTo>
                <a:lnTo>
                  <a:pt x="44788" y="10777"/>
                </a:lnTo>
                <a:lnTo>
                  <a:pt x="44125" y="9840"/>
                </a:lnTo>
                <a:lnTo>
                  <a:pt x="43383" y="8903"/>
                </a:lnTo>
                <a:lnTo>
                  <a:pt x="42602" y="8005"/>
                </a:lnTo>
                <a:lnTo>
                  <a:pt x="41821" y="7185"/>
                </a:lnTo>
                <a:lnTo>
                  <a:pt x="40962" y="6365"/>
                </a:lnTo>
                <a:lnTo>
                  <a:pt x="40064" y="5584"/>
                </a:lnTo>
                <a:lnTo>
                  <a:pt x="39127" y="4881"/>
                </a:lnTo>
                <a:lnTo>
                  <a:pt x="38189" y="4178"/>
                </a:lnTo>
                <a:lnTo>
                  <a:pt x="37174" y="3554"/>
                </a:lnTo>
                <a:lnTo>
                  <a:pt x="36159" y="2968"/>
                </a:lnTo>
                <a:lnTo>
                  <a:pt x="35105" y="2421"/>
                </a:lnTo>
                <a:lnTo>
                  <a:pt x="34011" y="1914"/>
                </a:lnTo>
                <a:lnTo>
                  <a:pt x="32918" y="1484"/>
                </a:lnTo>
                <a:lnTo>
                  <a:pt x="31786" y="1094"/>
                </a:lnTo>
                <a:lnTo>
                  <a:pt x="30614" y="781"/>
                </a:lnTo>
                <a:lnTo>
                  <a:pt x="29443" y="508"/>
                </a:lnTo>
                <a:lnTo>
                  <a:pt x="28232" y="274"/>
                </a:lnTo>
                <a:lnTo>
                  <a:pt x="26983" y="117"/>
                </a:lnTo>
                <a:lnTo>
                  <a:pt x="25772" y="39"/>
                </a:lnTo>
                <a:lnTo>
                  <a:pt x="244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09" name="Google Shape;2209;p40"/>
          <p:cNvGrpSpPr/>
          <p:nvPr/>
        </p:nvGrpSpPr>
        <p:grpSpPr>
          <a:xfrm flipH="1">
            <a:off x="-352355" y="3454401"/>
            <a:ext cx="1051274" cy="787312"/>
            <a:chOff x="3585475" y="1537675"/>
            <a:chExt cx="649175" cy="486175"/>
          </a:xfrm>
        </p:grpSpPr>
        <p:sp>
          <p:nvSpPr>
            <p:cNvPr id="2210" name="Google Shape;2210;p40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40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40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40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40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40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40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40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40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40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40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40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40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40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40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40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40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40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40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40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30" name="Google Shape;2230;p40"/>
          <p:cNvGrpSpPr/>
          <p:nvPr/>
        </p:nvGrpSpPr>
        <p:grpSpPr>
          <a:xfrm flipH="1">
            <a:off x="197795" y="211850"/>
            <a:ext cx="656180" cy="633875"/>
            <a:chOff x="2556550" y="3309450"/>
            <a:chExt cx="545725" cy="527175"/>
          </a:xfrm>
        </p:grpSpPr>
        <p:sp>
          <p:nvSpPr>
            <p:cNvPr id="2231" name="Google Shape;2231;p40"/>
            <p:cNvSpPr/>
            <p:nvPr/>
          </p:nvSpPr>
          <p:spPr>
            <a:xfrm>
              <a:off x="2556550" y="3440250"/>
              <a:ext cx="396375" cy="396375"/>
            </a:xfrm>
            <a:custGeom>
              <a:avLst/>
              <a:gdLst/>
              <a:ahLst/>
              <a:cxnLst/>
              <a:rect l="l" t="t" r="r" b="b"/>
              <a:pathLst>
                <a:path w="15855" h="15855" extrusionOk="0">
                  <a:moveTo>
                    <a:pt x="1" y="1"/>
                  </a:moveTo>
                  <a:lnTo>
                    <a:pt x="1" y="15854"/>
                  </a:lnTo>
                  <a:lnTo>
                    <a:pt x="15854" y="15854"/>
                  </a:lnTo>
                  <a:lnTo>
                    <a:pt x="1585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40"/>
            <p:cNvSpPr/>
            <p:nvPr/>
          </p:nvSpPr>
          <p:spPr>
            <a:xfrm>
              <a:off x="2704950" y="3309450"/>
              <a:ext cx="397325" cy="396350"/>
            </a:xfrm>
            <a:custGeom>
              <a:avLst/>
              <a:gdLst/>
              <a:ahLst/>
              <a:cxnLst/>
              <a:rect l="l" t="t" r="r" b="b"/>
              <a:pathLst>
                <a:path w="15893" h="15854" fill="none" extrusionOk="0">
                  <a:moveTo>
                    <a:pt x="15893" y="15854"/>
                  </a:moveTo>
                  <a:lnTo>
                    <a:pt x="0" y="15854"/>
                  </a:lnTo>
                  <a:lnTo>
                    <a:pt x="0" y="0"/>
                  </a:lnTo>
                  <a:lnTo>
                    <a:pt x="15893" y="0"/>
                  </a:lnTo>
                  <a:lnTo>
                    <a:pt x="15893" y="15854"/>
                  </a:lnTo>
                  <a:close/>
                </a:path>
              </a:pathLst>
            </a:custGeom>
            <a:noFill/>
            <a:ln w="1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33" name="Google Shape;2233;p40"/>
          <p:cNvSpPr/>
          <p:nvPr/>
        </p:nvSpPr>
        <p:spPr>
          <a:xfrm>
            <a:off x="7424746" y="369925"/>
            <a:ext cx="1719000" cy="475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 smtClean="0">
                <a:solidFill>
                  <a:schemeClr val="accent4"/>
                </a:solidFill>
                <a:latin typeface="Montserrat" panose="00000500000000000000" pitchFamily="2" charset="0"/>
                <a:ea typeface="Karla Regular"/>
                <a:cs typeface="Karla Regular"/>
                <a:sym typeface="Karla Regular"/>
              </a:rPr>
              <a:t>         DAY 24</a:t>
            </a:r>
            <a:endParaRPr sz="100" b="1" dirty="0">
              <a:latin typeface="Montserrat" panose="00000500000000000000" pitchFamily="2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919" y="1070028"/>
            <a:ext cx="1174118" cy="11022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600" b="1" dirty="0" smtClean="0">
                <a:solidFill>
                  <a:schemeClr val="tx2"/>
                </a:solidFill>
                <a:latin typeface="Fire sans extra"/>
              </a:rPr>
              <a:t>What You will learn Today?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311700" y="1242808"/>
            <a:ext cx="7924800" cy="235743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Font typeface="Wingdings" pitchFamily="2" charset="2"/>
              <a:buChar char="ü"/>
            </a:pPr>
            <a:r>
              <a:rPr lang="en-US" sz="3200" b="1" smtClean="0">
                <a:solidFill>
                  <a:schemeClr val="bg2">
                    <a:lumMod val="75000"/>
                  </a:schemeClr>
                </a:solidFill>
              </a:rPr>
              <a:t>Overview of LCD</a:t>
            </a:r>
          </a:p>
          <a:p>
            <a:pPr>
              <a:buFont typeface="Wingdings" pitchFamily="2" charset="2"/>
              <a:buChar char="ü"/>
            </a:pPr>
            <a:r>
              <a:rPr lang="en-US" sz="3200" b="1" dirty="0" smtClean="0">
                <a:solidFill>
                  <a:schemeClr val="bg2">
                    <a:lumMod val="75000"/>
                  </a:schemeClr>
                </a:solidFill>
              </a:rPr>
              <a:t>Interface LCD with PIC</a:t>
            </a:r>
            <a:endParaRPr lang="en-US" sz="3200" b="1" dirty="0" smtClean="0">
              <a:solidFill>
                <a:schemeClr val="bg2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endParaRPr lang="en-US" sz="3200" b="1" dirty="0" smtClean="0">
              <a:solidFill>
                <a:schemeClr val="bg2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buFont typeface="Wingdings" pitchFamily="2" charset="2"/>
              <a:buChar char="ü"/>
            </a:pPr>
            <a:endParaRPr lang="en-US" sz="3200" b="1" dirty="0" smtClean="0">
              <a:solidFill>
                <a:schemeClr val="bg2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buFont typeface="Wingdings" pitchFamily="2" charset="2"/>
              <a:buChar char="ü"/>
            </a:pPr>
            <a:endParaRPr lang="en-US" sz="3200" b="1" dirty="0" smtClean="0">
              <a:solidFill>
                <a:schemeClr val="bg2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endParaRPr lang="en-US" sz="3200" b="1" dirty="0" smtClean="0">
              <a:solidFill>
                <a:schemeClr val="bg2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endParaRPr lang="en-US" sz="3200" b="1" dirty="0" smtClean="0">
              <a:solidFill>
                <a:schemeClr val="bg2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buFont typeface="Wingdings" pitchFamily="2" charset="2"/>
              <a:buChar char="ü"/>
            </a:pPr>
            <a:endParaRPr lang="en-US" sz="3200" b="1" dirty="0" smtClean="0">
              <a:solidFill>
                <a:schemeClr val="bg2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endParaRPr lang="en-US" sz="3200" b="1" dirty="0" smtClean="0">
              <a:solidFill>
                <a:schemeClr val="bg2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764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863" y="190165"/>
            <a:ext cx="8520600" cy="572700"/>
          </a:xfrm>
        </p:spPr>
        <p:txBody>
          <a:bodyPr/>
          <a:lstStyle/>
          <a:p>
            <a:r>
              <a:rPr lang="en-US" dirty="0" smtClean="0">
                <a:solidFill>
                  <a:schemeClr val="tx2"/>
                </a:solidFill>
              </a:rPr>
              <a:t>Mindset Lesson for the Day</a:t>
            </a:r>
            <a:endParaRPr lang="en-IN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981" y="1156205"/>
            <a:ext cx="8520600" cy="1272071"/>
          </a:xfrm>
        </p:spPr>
        <p:txBody>
          <a:bodyPr/>
          <a:lstStyle/>
          <a:p>
            <a:pPr marL="139700" indent="0">
              <a:buNone/>
            </a:pPr>
            <a:r>
              <a:rPr lang="en-US" sz="4400" b="1" dirty="0" smtClean="0">
                <a:solidFill>
                  <a:schemeClr val="tx1"/>
                </a:solidFill>
              </a:rPr>
              <a:t>Words has power to Create</a:t>
            </a:r>
          </a:p>
          <a:p>
            <a:pPr marL="139700" indent="0">
              <a:buNone/>
            </a:pPr>
            <a:r>
              <a:rPr lang="en-US" sz="4400" b="1" dirty="0" smtClean="0">
                <a:solidFill>
                  <a:schemeClr val="tx1"/>
                </a:solidFill>
              </a:rPr>
              <a:t>And Power to destroy.</a:t>
            </a:r>
            <a:endParaRPr lang="en-US" sz="4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4348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0137" y="0"/>
            <a:ext cx="8520600" cy="572700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Embedded System Design using PIC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164" y="1170704"/>
            <a:ext cx="5230108" cy="360237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65619" y="879008"/>
            <a:ext cx="4572000" cy="418576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444444"/>
                </a:solidFill>
                <a:latin typeface="Arial" panose="020B0604020202020204" pitchFamily="34" charset="0"/>
              </a:rPr>
              <a:t>40pin-SIF Socket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444444"/>
                </a:solidFill>
                <a:latin typeface="Arial" panose="020B0604020202020204" pitchFamily="34" charset="0"/>
              </a:rPr>
              <a:t>8 Nos. Point LEDs (Logic Output)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444444"/>
                </a:solidFill>
                <a:latin typeface="Arial" panose="020B0604020202020204" pitchFamily="34" charset="0"/>
              </a:rPr>
              <a:t>8 Nos. Digital Input (DIP Switch)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444444"/>
                </a:solidFill>
                <a:latin typeface="Arial" panose="020B0604020202020204" pitchFamily="34" charset="0"/>
              </a:rPr>
              <a:t>4x4 Matrix Keypad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444444"/>
                </a:solidFill>
                <a:latin typeface="Arial" panose="020B0604020202020204" pitchFamily="34" charset="0"/>
              </a:rPr>
              <a:t>2X16 Character LCD (Background Light)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444444"/>
                </a:solidFill>
                <a:latin typeface="Arial" panose="020B0604020202020204" pitchFamily="34" charset="0"/>
              </a:rPr>
              <a:t>4 Nos. 7-Segment Display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444444"/>
                </a:solidFill>
                <a:latin typeface="Arial" panose="020B0604020202020204" pitchFamily="34" charset="0"/>
              </a:rPr>
              <a:t>2 Nos. Analog Input (Potentiometer)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444444"/>
                </a:solidFill>
                <a:latin typeface="Arial" panose="020B0604020202020204" pitchFamily="34" charset="0"/>
              </a:rPr>
              <a:t>Temperature Sensor (LM35)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444444"/>
                </a:solidFill>
                <a:latin typeface="Arial" panose="020B0604020202020204" pitchFamily="34" charset="0"/>
              </a:rPr>
              <a:t>Stepper Motor Interface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444444"/>
                </a:solidFill>
                <a:latin typeface="Arial" panose="020B0604020202020204" pitchFamily="34" charset="0"/>
              </a:rPr>
              <a:t>2 Nos. of SPST Relay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444444"/>
                </a:solidFill>
                <a:latin typeface="Arial" panose="020B0604020202020204" pitchFamily="34" charset="0"/>
              </a:rPr>
              <a:t>DS1307 RTC with Batter-Backup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444444"/>
                </a:solidFill>
                <a:latin typeface="Arial" panose="020B0604020202020204" pitchFamily="34" charset="0"/>
              </a:rPr>
              <a:t>USART(RS232)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444444"/>
                </a:solidFill>
                <a:latin typeface="Arial" panose="020B0604020202020204" pitchFamily="34" charset="0"/>
              </a:rPr>
              <a:t>USB 2.0 Enabled Programmer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444444"/>
                </a:solidFill>
                <a:latin typeface="Arial" panose="020B0604020202020204" pitchFamily="34" charset="0"/>
              </a:rPr>
              <a:t>Interrupts Study, Reset Button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444444"/>
                </a:solidFill>
                <a:latin typeface="Arial" panose="020B0604020202020204" pitchFamily="34" charset="0"/>
              </a:rPr>
              <a:t>SPI – EEPROM.25C040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444444"/>
                </a:solidFill>
                <a:latin typeface="Arial" panose="020B0604020202020204" pitchFamily="34" charset="0"/>
              </a:rPr>
              <a:t>I2C EEPROM 24C04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444444"/>
                </a:solidFill>
                <a:latin typeface="Arial" panose="020B0604020202020204" pitchFamily="34" charset="0"/>
              </a:rPr>
              <a:t>Digital Temperature Sensor(DS18S20)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444444"/>
                </a:solidFill>
                <a:latin typeface="Arial" panose="020B0604020202020204" pitchFamily="34" charset="0"/>
              </a:rPr>
              <a:t>4x10-Pin Expansion Connector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444444"/>
                </a:solidFill>
                <a:latin typeface="Arial" panose="020B0604020202020204" pitchFamily="34" charset="0"/>
              </a:rPr>
              <a:t>Piezo Electric Buzzer</a:t>
            </a:r>
          </a:p>
        </p:txBody>
      </p:sp>
    </p:spTree>
    <p:extLst>
      <p:ext uri="{BB962C8B-B14F-4D97-AF65-F5344CB8AC3E}">
        <p14:creationId xmlns:p14="http://schemas.microsoft.com/office/powerpoint/2010/main" val="3138065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78625"/>
            <a:ext cx="8520600" cy="572700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PIC PIN Diagram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700" y="1094925"/>
            <a:ext cx="4157401" cy="34163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55225"/>
            <a:ext cx="4416099" cy="34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382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PIN Details of LCD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7306" y="1212850"/>
            <a:ext cx="4824188" cy="34163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0413" y="104993"/>
            <a:ext cx="3528574" cy="3438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229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4075" y="67053"/>
            <a:ext cx="7723500" cy="481200"/>
          </a:xfrm>
        </p:spPr>
        <p:txBody>
          <a:bodyPr/>
          <a:lstStyle/>
          <a:p>
            <a:r>
              <a:rPr lang="en-US" dirty="0" smtClean="0">
                <a:solidFill>
                  <a:schemeClr val="tx2"/>
                </a:solidFill>
              </a:rPr>
              <a:t>Character Display LCD</a:t>
            </a:r>
            <a:endParaRPr lang="en-IN" dirty="0">
              <a:solidFill>
                <a:schemeClr val="tx2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9334" y="767687"/>
            <a:ext cx="3264496" cy="4595247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2570018" y="1433945"/>
            <a:ext cx="152400" cy="24245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Arrow Connector 6"/>
          <p:cNvCxnSpPr>
            <a:stCxn id="5" idx="6"/>
          </p:cNvCxnSpPr>
          <p:nvPr/>
        </p:nvCxnSpPr>
        <p:spPr>
          <a:xfrm flipV="1">
            <a:off x="2722418" y="1555172"/>
            <a:ext cx="195349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786745" y="1371600"/>
            <a:ext cx="2272146" cy="37407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0011 0001  -X”31”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2570018" y="1676400"/>
            <a:ext cx="152400" cy="25630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2722418" y="1797626"/>
            <a:ext cx="195349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698441" y="1797626"/>
            <a:ext cx="2272146" cy="37407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0011 0010  -X”32”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9017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COMMAND CODES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2267" y="1115287"/>
            <a:ext cx="3673722" cy="34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127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400" y="216172"/>
            <a:ext cx="8520600" cy="572700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Schematic Diagram of LCD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43" y="844496"/>
            <a:ext cx="4210638" cy="4013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276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94981"/>
            <a:ext cx="8520600" cy="572700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Header File and Declarations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7406" y="788144"/>
            <a:ext cx="8520600" cy="3416400"/>
          </a:xfrm>
        </p:spPr>
        <p:txBody>
          <a:bodyPr/>
          <a:lstStyle/>
          <a:p>
            <a:pPr marL="139700" indent="0">
              <a:buNone/>
            </a:pPr>
            <a:r>
              <a:rPr lang="en-US" dirty="0"/>
              <a:t>#include&lt;</a:t>
            </a:r>
            <a:r>
              <a:rPr lang="en-US" dirty="0" err="1"/>
              <a:t>pic.h</a:t>
            </a:r>
            <a:r>
              <a:rPr lang="en-US" dirty="0"/>
              <a:t>&gt;						//Define PIC Registers</a:t>
            </a:r>
          </a:p>
          <a:p>
            <a:pPr marL="139700" indent="0">
              <a:buNone/>
            </a:pPr>
            <a:r>
              <a:rPr lang="en-US" dirty="0"/>
              <a:t>#include&lt;</a:t>
            </a:r>
            <a:r>
              <a:rPr lang="en-US" dirty="0" err="1"/>
              <a:t>stdio.h</a:t>
            </a:r>
            <a:r>
              <a:rPr lang="en-US" dirty="0"/>
              <a:t>&gt;					//Define I/O Functions</a:t>
            </a:r>
          </a:p>
          <a:p>
            <a:pPr marL="139700" indent="0">
              <a:buNone/>
            </a:pPr>
            <a:r>
              <a:rPr lang="en-US" dirty="0" smtClean="0"/>
              <a:t>__</a:t>
            </a:r>
            <a:r>
              <a:rPr lang="en-US" dirty="0"/>
              <a:t>CONFIG(0x3f72</a:t>
            </a:r>
            <a:r>
              <a:rPr lang="en-US" dirty="0" smtClean="0"/>
              <a:t>); </a:t>
            </a:r>
          </a:p>
          <a:p>
            <a:pPr marL="139700" indent="0">
              <a:buNone/>
            </a:pPr>
            <a:r>
              <a:rPr lang="en-US" dirty="0" smtClean="0"/>
              <a:t>#define RS RE0						//LCD Register Select</a:t>
            </a:r>
          </a:p>
          <a:p>
            <a:pPr marL="139700" indent="0">
              <a:buNone/>
            </a:pPr>
            <a:r>
              <a:rPr lang="en-US" dirty="0" smtClean="0"/>
              <a:t>#</a:t>
            </a:r>
            <a:r>
              <a:rPr lang="en-US" dirty="0"/>
              <a:t>define RW RE1						//LCD Read/Write Pin</a:t>
            </a:r>
          </a:p>
          <a:p>
            <a:pPr marL="139700" indent="0">
              <a:buNone/>
            </a:pPr>
            <a:r>
              <a:rPr lang="en-US" dirty="0"/>
              <a:t>#define EN RE2						//LCD Enable Pin</a:t>
            </a:r>
          </a:p>
          <a:p>
            <a:pPr marL="139700" indent="0">
              <a:buNone/>
            </a:pPr>
            <a:r>
              <a:rPr lang="en-US" dirty="0"/>
              <a:t>#define DATA 		PORTD			//LCD Data Port</a:t>
            </a:r>
          </a:p>
          <a:p>
            <a:pPr marL="139700" indent="0">
              <a:buNone/>
            </a:pPr>
            <a:r>
              <a:rPr lang="en-US" dirty="0"/>
              <a:t>#define DATADIR	</a:t>
            </a:r>
            <a:r>
              <a:rPr lang="en-US" dirty="0" smtClean="0"/>
              <a:t>TRISD</a:t>
            </a:r>
            <a:r>
              <a:rPr lang="en-US" dirty="0"/>
              <a:t>			//LCD Data Port Direction Register</a:t>
            </a:r>
          </a:p>
          <a:p>
            <a:pPr marL="139700" indent="0">
              <a:buNone/>
            </a:pPr>
            <a:r>
              <a:rPr lang="en-US" dirty="0"/>
              <a:t>#define CNTRLDIR 	TRISE			//RS,RW,EN Direction Register</a:t>
            </a:r>
          </a:p>
          <a:p>
            <a:pPr marL="139700" indent="0">
              <a:buNone/>
            </a:pPr>
            <a:r>
              <a:rPr lang="en-IN" dirty="0"/>
              <a:t>void </a:t>
            </a:r>
            <a:r>
              <a:rPr lang="en-IN" dirty="0" err="1"/>
              <a:t>lcdinit</a:t>
            </a:r>
            <a:r>
              <a:rPr lang="en-IN" dirty="0"/>
              <a:t>(void);					//LCD initialization Function</a:t>
            </a:r>
          </a:p>
          <a:p>
            <a:pPr marL="139700" indent="0">
              <a:buNone/>
            </a:pPr>
            <a:r>
              <a:rPr lang="en-IN" dirty="0"/>
              <a:t>void </a:t>
            </a:r>
            <a:r>
              <a:rPr lang="en-IN" dirty="0" err="1"/>
              <a:t>lcdclr</a:t>
            </a:r>
            <a:r>
              <a:rPr lang="en-IN" dirty="0"/>
              <a:t>(void);					//LCD Clear Function	</a:t>
            </a:r>
          </a:p>
          <a:p>
            <a:pPr marL="139700" indent="0">
              <a:buNone/>
            </a:pPr>
            <a:r>
              <a:rPr lang="en-IN" dirty="0" smtClean="0"/>
              <a:t>void </a:t>
            </a:r>
            <a:r>
              <a:rPr lang="en-IN" dirty="0" err="1"/>
              <a:t>lcdcomd</a:t>
            </a:r>
            <a:r>
              <a:rPr lang="en-IN" dirty="0"/>
              <a:t>(unsigned char);		//LCD Command Declaring </a:t>
            </a:r>
            <a:r>
              <a:rPr lang="en-IN" dirty="0" err="1"/>
              <a:t>Fucntion</a:t>
            </a:r>
            <a:endParaRPr lang="en-IN" dirty="0"/>
          </a:p>
          <a:p>
            <a:pPr marL="139700" indent="0">
              <a:buNone/>
            </a:pPr>
            <a:r>
              <a:rPr lang="en-IN" dirty="0"/>
              <a:t>void </a:t>
            </a:r>
            <a:r>
              <a:rPr lang="en-IN" dirty="0" err="1"/>
              <a:t>lcddata</a:t>
            </a:r>
            <a:r>
              <a:rPr lang="en-IN" dirty="0"/>
              <a:t>(unsigned char);		//LCD Data Display </a:t>
            </a:r>
            <a:r>
              <a:rPr lang="en-IN" dirty="0" err="1"/>
              <a:t>Fucntion</a:t>
            </a:r>
            <a:endParaRPr lang="en-IN" dirty="0"/>
          </a:p>
          <a:p>
            <a:pPr marL="139700" indent="0">
              <a:buNone/>
            </a:pPr>
            <a:r>
              <a:rPr lang="en-IN" dirty="0"/>
              <a:t>void </a:t>
            </a:r>
            <a:r>
              <a:rPr lang="en-IN" dirty="0" err="1"/>
              <a:t>DelayMs</a:t>
            </a:r>
            <a:r>
              <a:rPr lang="en-IN" dirty="0"/>
              <a:t>(unsigned </a:t>
            </a:r>
            <a:r>
              <a:rPr lang="en-IN" dirty="0" err="1"/>
              <a:t>int</a:t>
            </a:r>
            <a:r>
              <a:rPr lang="en-IN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519005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Main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1700" y="572700"/>
            <a:ext cx="8520600" cy="3416400"/>
          </a:xfrm>
        </p:spPr>
        <p:txBody>
          <a:bodyPr/>
          <a:lstStyle/>
          <a:p>
            <a:pPr marL="139700" indent="0">
              <a:buNone/>
            </a:pPr>
            <a:r>
              <a:rPr lang="en-IN" sz="1000" dirty="0"/>
              <a:t>void main()</a:t>
            </a:r>
          </a:p>
          <a:p>
            <a:pPr marL="139700" indent="0">
              <a:buNone/>
            </a:pPr>
            <a:r>
              <a:rPr lang="en-IN" sz="1000" dirty="0"/>
              <a:t>{</a:t>
            </a:r>
          </a:p>
          <a:p>
            <a:pPr marL="139700" indent="0">
              <a:buNone/>
            </a:pPr>
            <a:r>
              <a:rPr lang="en-IN" sz="1000" dirty="0"/>
              <a:t>		</a:t>
            </a:r>
            <a:r>
              <a:rPr lang="en-IN" sz="1000" dirty="0" err="1"/>
              <a:t>int</a:t>
            </a:r>
            <a:r>
              <a:rPr lang="en-IN" sz="1000" dirty="0"/>
              <a:t> </a:t>
            </a:r>
            <a:r>
              <a:rPr lang="en-IN" sz="1000" dirty="0" err="1"/>
              <a:t>i</a:t>
            </a:r>
            <a:r>
              <a:rPr lang="en-IN" sz="1000" dirty="0"/>
              <a:t>;</a:t>
            </a:r>
          </a:p>
          <a:p>
            <a:pPr marL="139700" indent="0">
              <a:buNone/>
            </a:pPr>
            <a:r>
              <a:rPr lang="en-IN" sz="1000" dirty="0"/>
              <a:t>		unsigned char First[]={" PIC DEV. BOARD "};</a:t>
            </a:r>
          </a:p>
          <a:p>
            <a:pPr marL="139700" indent="0">
              <a:buNone/>
            </a:pPr>
            <a:r>
              <a:rPr lang="en-IN" sz="1000" dirty="0"/>
              <a:t>		unsigned char </a:t>
            </a:r>
            <a:r>
              <a:rPr lang="en-IN" sz="1000" dirty="0" err="1"/>
              <a:t>Secnd</a:t>
            </a:r>
            <a:r>
              <a:rPr lang="en-IN" sz="1000" dirty="0"/>
              <a:t>[]={"LCD DEMO PROGRAM"};</a:t>
            </a:r>
          </a:p>
          <a:p>
            <a:pPr marL="139700" indent="0">
              <a:buNone/>
            </a:pPr>
            <a:r>
              <a:rPr lang="en-IN" sz="1000" dirty="0"/>
              <a:t>		</a:t>
            </a:r>
            <a:r>
              <a:rPr lang="en-IN" sz="1000" dirty="0" err="1"/>
              <a:t>DelayMs</a:t>
            </a:r>
            <a:r>
              <a:rPr lang="en-IN" sz="1000" dirty="0"/>
              <a:t>(500);</a:t>
            </a:r>
          </a:p>
          <a:p>
            <a:pPr marL="139700" indent="0">
              <a:buNone/>
            </a:pPr>
            <a:r>
              <a:rPr lang="en-IN" sz="1000" dirty="0"/>
              <a:t>		</a:t>
            </a:r>
            <a:r>
              <a:rPr lang="en-IN" sz="1000" dirty="0" err="1"/>
              <a:t>lcdinit</a:t>
            </a:r>
            <a:r>
              <a:rPr lang="en-IN" sz="1000" dirty="0"/>
              <a:t>();			</a:t>
            </a:r>
          </a:p>
          <a:p>
            <a:pPr marL="139700" indent="0">
              <a:buNone/>
            </a:pPr>
            <a:r>
              <a:rPr lang="en-IN" sz="1000" dirty="0"/>
              <a:t>		</a:t>
            </a:r>
            <a:r>
              <a:rPr lang="en-IN" sz="1000" dirty="0" err="1"/>
              <a:t>DelayMs</a:t>
            </a:r>
            <a:r>
              <a:rPr lang="en-IN" sz="1000" dirty="0"/>
              <a:t>(500);</a:t>
            </a:r>
          </a:p>
          <a:p>
            <a:pPr marL="139700" indent="0">
              <a:buNone/>
            </a:pPr>
            <a:endParaRPr lang="en-IN" sz="1000" dirty="0"/>
          </a:p>
          <a:p>
            <a:pPr marL="139700" indent="0">
              <a:buNone/>
            </a:pPr>
            <a:r>
              <a:rPr lang="en-IN" sz="1000" dirty="0"/>
              <a:t>		while(1)</a:t>
            </a:r>
          </a:p>
          <a:p>
            <a:pPr marL="139700" indent="0">
              <a:buNone/>
            </a:pPr>
            <a:r>
              <a:rPr lang="en-IN" sz="1000" dirty="0"/>
              <a:t>		{</a:t>
            </a:r>
          </a:p>
          <a:p>
            <a:pPr marL="139700" indent="0">
              <a:buNone/>
            </a:pPr>
            <a:r>
              <a:rPr lang="en-IN" sz="1000" dirty="0"/>
              <a:t>			</a:t>
            </a:r>
            <a:r>
              <a:rPr lang="en-IN" sz="1000" dirty="0" err="1"/>
              <a:t>lcdclr</a:t>
            </a:r>
            <a:r>
              <a:rPr lang="en-IN" sz="1000" dirty="0"/>
              <a:t>();</a:t>
            </a:r>
          </a:p>
          <a:p>
            <a:pPr marL="139700" indent="0">
              <a:buNone/>
            </a:pPr>
            <a:r>
              <a:rPr lang="en-IN" sz="1000" dirty="0"/>
              <a:t>			</a:t>
            </a:r>
            <a:r>
              <a:rPr lang="en-IN" sz="1000" dirty="0" err="1"/>
              <a:t>lcdcomd</a:t>
            </a:r>
            <a:r>
              <a:rPr lang="en-IN" sz="1000" dirty="0"/>
              <a:t>(0x80);</a:t>
            </a:r>
          </a:p>
          <a:p>
            <a:pPr marL="139700" indent="0">
              <a:buNone/>
            </a:pPr>
            <a:r>
              <a:rPr lang="en-IN" sz="1000" dirty="0"/>
              <a:t>			for(</a:t>
            </a:r>
            <a:r>
              <a:rPr lang="en-IN" sz="1000" dirty="0" err="1"/>
              <a:t>i</a:t>
            </a:r>
            <a:r>
              <a:rPr lang="en-IN" sz="1000" dirty="0"/>
              <a:t>=0;i&lt;16;i++)			//Display the Message</a:t>
            </a:r>
          </a:p>
          <a:p>
            <a:pPr marL="139700" indent="0">
              <a:buNone/>
            </a:pPr>
            <a:r>
              <a:rPr lang="en-IN" sz="1000" dirty="0"/>
              <a:t>			{</a:t>
            </a:r>
          </a:p>
          <a:p>
            <a:pPr marL="139700" indent="0">
              <a:buNone/>
            </a:pPr>
            <a:r>
              <a:rPr lang="en-IN" sz="1000" dirty="0"/>
              <a:t>				</a:t>
            </a:r>
            <a:r>
              <a:rPr lang="en-IN" sz="1000" dirty="0" err="1"/>
              <a:t>lcddata</a:t>
            </a:r>
            <a:r>
              <a:rPr lang="en-IN" sz="1000" dirty="0"/>
              <a:t>(First[</a:t>
            </a:r>
            <a:r>
              <a:rPr lang="en-IN" sz="1000" dirty="0" err="1"/>
              <a:t>i</a:t>
            </a:r>
            <a:r>
              <a:rPr lang="en-IN" sz="1000" dirty="0"/>
              <a:t>]);</a:t>
            </a:r>
          </a:p>
          <a:p>
            <a:pPr marL="139700" indent="0">
              <a:buNone/>
            </a:pPr>
            <a:r>
              <a:rPr lang="en-IN" sz="1000" dirty="0"/>
              <a:t>				</a:t>
            </a:r>
            <a:r>
              <a:rPr lang="en-IN" sz="1000" dirty="0" err="1"/>
              <a:t>DelayMs</a:t>
            </a:r>
            <a:r>
              <a:rPr lang="en-IN" sz="1000" dirty="0"/>
              <a:t>(50);</a:t>
            </a:r>
          </a:p>
          <a:p>
            <a:pPr marL="139700" indent="0">
              <a:buNone/>
            </a:pPr>
            <a:r>
              <a:rPr lang="en-IN" sz="1000" dirty="0"/>
              <a:t>			}</a:t>
            </a:r>
          </a:p>
          <a:p>
            <a:pPr marL="139700" indent="0">
              <a:buNone/>
            </a:pPr>
            <a:endParaRPr lang="en-IN" sz="1000" dirty="0"/>
          </a:p>
          <a:p>
            <a:pPr marL="139700" indent="0">
              <a:buNone/>
            </a:pPr>
            <a:r>
              <a:rPr lang="en-IN" sz="1000" dirty="0"/>
              <a:t>			</a:t>
            </a:r>
            <a:r>
              <a:rPr lang="en-IN" sz="1000" dirty="0" err="1"/>
              <a:t>lcdcomd</a:t>
            </a:r>
            <a:r>
              <a:rPr lang="en-IN" sz="1000" dirty="0"/>
              <a:t>(0xc0);</a:t>
            </a:r>
          </a:p>
          <a:p>
            <a:pPr marL="139700" indent="0">
              <a:buNone/>
            </a:pPr>
            <a:r>
              <a:rPr lang="en-IN" sz="1000" dirty="0"/>
              <a:t>			for(</a:t>
            </a:r>
            <a:r>
              <a:rPr lang="en-IN" sz="1000" dirty="0" err="1"/>
              <a:t>i</a:t>
            </a:r>
            <a:r>
              <a:rPr lang="en-IN" sz="1000" dirty="0"/>
              <a:t>=0;i&lt;16;i++)			//Display the Message</a:t>
            </a:r>
          </a:p>
          <a:p>
            <a:pPr marL="139700" indent="0">
              <a:buNone/>
            </a:pPr>
            <a:r>
              <a:rPr lang="en-IN" sz="1000" dirty="0"/>
              <a:t>			{</a:t>
            </a:r>
          </a:p>
          <a:p>
            <a:pPr marL="139700" indent="0">
              <a:buNone/>
            </a:pPr>
            <a:r>
              <a:rPr lang="en-IN" sz="1000" dirty="0"/>
              <a:t>				</a:t>
            </a:r>
            <a:r>
              <a:rPr lang="en-IN" sz="1000" dirty="0" err="1"/>
              <a:t>lcddata</a:t>
            </a:r>
            <a:r>
              <a:rPr lang="en-IN" sz="1000" dirty="0"/>
              <a:t>(</a:t>
            </a:r>
            <a:r>
              <a:rPr lang="en-IN" sz="1000" dirty="0" err="1"/>
              <a:t>Secnd</a:t>
            </a:r>
            <a:r>
              <a:rPr lang="en-IN" sz="1000" dirty="0"/>
              <a:t>[</a:t>
            </a:r>
            <a:r>
              <a:rPr lang="en-IN" sz="1000" dirty="0" err="1"/>
              <a:t>i</a:t>
            </a:r>
            <a:r>
              <a:rPr lang="en-IN" sz="1000" dirty="0"/>
              <a:t>]);</a:t>
            </a:r>
          </a:p>
          <a:p>
            <a:pPr marL="139700" indent="0">
              <a:buNone/>
            </a:pPr>
            <a:r>
              <a:rPr lang="en-IN" sz="1000" dirty="0"/>
              <a:t>				</a:t>
            </a:r>
            <a:r>
              <a:rPr lang="en-IN" sz="1000" dirty="0" err="1"/>
              <a:t>DelayMs</a:t>
            </a:r>
            <a:r>
              <a:rPr lang="en-IN" sz="1000" dirty="0"/>
              <a:t>(50);</a:t>
            </a:r>
          </a:p>
          <a:p>
            <a:pPr marL="139700" indent="0">
              <a:buNone/>
            </a:pPr>
            <a:r>
              <a:rPr lang="en-IN" sz="1000" dirty="0"/>
              <a:t>			}</a:t>
            </a:r>
          </a:p>
          <a:p>
            <a:pPr marL="139700" indent="0">
              <a:buNone/>
            </a:pPr>
            <a:r>
              <a:rPr lang="en-IN" sz="1000" dirty="0"/>
              <a:t>			</a:t>
            </a:r>
            <a:r>
              <a:rPr lang="en-IN" sz="1000" dirty="0" err="1"/>
              <a:t>DelayMs</a:t>
            </a:r>
            <a:r>
              <a:rPr lang="en-IN" sz="1000" dirty="0"/>
              <a:t>(500);</a:t>
            </a:r>
          </a:p>
          <a:p>
            <a:pPr marL="139700" indent="0">
              <a:buNone/>
            </a:pPr>
            <a:r>
              <a:rPr lang="en-IN" sz="1000" dirty="0"/>
              <a:t>		}</a:t>
            </a:r>
          </a:p>
          <a:p>
            <a:pPr marL="139700" indent="0">
              <a:buNone/>
            </a:pPr>
            <a:r>
              <a:rPr lang="en-IN" sz="1000" dirty="0"/>
              <a:t>}</a:t>
            </a:r>
          </a:p>
          <a:p>
            <a:pPr marL="139700" indent="0">
              <a:buNone/>
            </a:pPr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1279661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30700"/>
            <a:ext cx="8520600" cy="572700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LCD Initialization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IN" sz="1000" dirty="0"/>
              <a:t>void </a:t>
            </a:r>
            <a:r>
              <a:rPr lang="en-IN" sz="1000" dirty="0" err="1"/>
              <a:t>lcdinit</a:t>
            </a:r>
            <a:r>
              <a:rPr lang="en-IN" sz="1000" dirty="0"/>
              <a:t>(void)</a:t>
            </a:r>
          </a:p>
          <a:p>
            <a:pPr marL="139700" indent="0">
              <a:buNone/>
            </a:pPr>
            <a:r>
              <a:rPr lang="en-IN" sz="1000" dirty="0"/>
              <a:t>{	</a:t>
            </a:r>
          </a:p>
          <a:p>
            <a:pPr marL="139700" indent="0">
              <a:buNone/>
            </a:pPr>
            <a:r>
              <a:rPr lang="en-IN" sz="1000" dirty="0"/>
              <a:t>	</a:t>
            </a:r>
            <a:r>
              <a:rPr lang="en-IN" sz="1000" dirty="0" err="1"/>
              <a:t>int</a:t>
            </a:r>
            <a:r>
              <a:rPr lang="en-IN" sz="1000" dirty="0"/>
              <a:t> </a:t>
            </a:r>
            <a:r>
              <a:rPr lang="en-IN" sz="1000" dirty="0" err="1"/>
              <a:t>i</a:t>
            </a:r>
            <a:r>
              <a:rPr lang="en-IN" sz="1000" dirty="0"/>
              <a:t>;</a:t>
            </a:r>
          </a:p>
          <a:p>
            <a:pPr marL="139700" indent="0">
              <a:buNone/>
            </a:pPr>
            <a:r>
              <a:rPr lang="en-IN" sz="1000" dirty="0"/>
              <a:t>	unsigned char command[]={0x38,0x0c,0x06,0x01};					//LCD Command set for 8 bit Interface, 2 Lines, 5x7 Dots</a:t>
            </a:r>
          </a:p>
          <a:p>
            <a:pPr marL="139700" indent="0">
              <a:buNone/>
            </a:pPr>
            <a:r>
              <a:rPr lang="en-IN" sz="1000" dirty="0"/>
              <a:t>	ADCON1 = 0x07;													//Make PORTE Pin as Digital</a:t>
            </a:r>
          </a:p>
          <a:p>
            <a:pPr marL="139700" indent="0">
              <a:buNone/>
            </a:pPr>
            <a:r>
              <a:rPr lang="en-IN" sz="1000" dirty="0"/>
              <a:t>	CNTRLDIR = 0x00;												//Make LCD control port (PORTE) as output Port</a:t>
            </a:r>
          </a:p>
          <a:p>
            <a:pPr marL="139700" indent="0">
              <a:buNone/>
            </a:pPr>
            <a:r>
              <a:rPr lang="en-IN" sz="1000" dirty="0"/>
              <a:t>	DATADIR  = 0x00;	</a:t>
            </a:r>
          </a:p>
          <a:p>
            <a:pPr marL="139700" indent="0">
              <a:buNone/>
            </a:pPr>
            <a:r>
              <a:rPr lang="en-IN" sz="1000" dirty="0"/>
              <a:t>    </a:t>
            </a:r>
            <a:r>
              <a:rPr lang="en-IN" sz="1000" dirty="0" err="1"/>
              <a:t>DelayMs</a:t>
            </a:r>
            <a:r>
              <a:rPr lang="en-IN" sz="1000" dirty="0"/>
              <a:t>(50);											//Make LCD Data Port (PORTD) as output port</a:t>
            </a:r>
          </a:p>
          <a:p>
            <a:pPr marL="139700" indent="0">
              <a:buNone/>
            </a:pPr>
            <a:r>
              <a:rPr lang="en-IN" sz="1000" dirty="0"/>
              <a:t>	for(</a:t>
            </a:r>
            <a:r>
              <a:rPr lang="en-IN" sz="1000" dirty="0" err="1"/>
              <a:t>i</a:t>
            </a:r>
            <a:r>
              <a:rPr lang="en-IN" sz="1000" dirty="0"/>
              <a:t>=0;i&lt;4;i++)</a:t>
            </a:r>
          </a:p>
          <a:p>
            <a:pPr marL="139700" indent="0">
              <a:buNone/>
            </a:pPr>
            <a:r>
              <a:rPr lang="en-IN" sz="1000" dirty="0"/>
              <a:t>	{</a:t>
            </a:r>
          </a:p>
          <a:p>
            <a:pPr marL="139700" indent="0">
              <a:buNone/>
            </a:pPr>
            <a:r>
              <a:rPr lang="en-IN" sz="1000" dirty="0"/>
              <a:t>		</a:t>
            </a:r>
            <a:r>
              <a:rPr lang="en-IN" sz="1000" dirty="0" err="1"/>
              <a:t>lcdcomd</a:t>
            </a:r>
            <a:r>
              <a:rPr lang="en-IN" sz="1000" dirty="0"/>
              <a:t>(command[</a:t>
            </a:r>
            <a:r>
              <a:rPr lang="en-IN" sz="1000" dirty="0" err="1"/>
              <a:t>i</a:t>
            </a:r>
            <a:r>
              <a:rPr lang="en-IN" sz="1000" dirty="0"/>
              <a:t>]);										//Send the Initialisation Commands</a:t>
            </a:r>
          </a:p>
          <a:p>
            <a:pPr marL="139700" indent="0">
              <a:buNone/>
            </a:pPr>
            <a:r>
              <a:rPr lang="en-IN" sz="1000" dirty="0"/>
              <a:t>		</a:t>
            </a:r>
            <a:r>
              <a:rPr lang="en-IN" sz="1000" dirty="0" err="1"/>
              <a:t>DelayMs</a:t>
            </a:r>
            <a:r>
              <a:rPr lang="en-IN" sz="1000" dirty="0"/>
              <a:t>(5);</a:t>
            </a:r>
          </a:p>
          <a:p>
            <a:pPr marL="139700" indent="0">
              <a:buNone/>
            </a:pPr>
            <a:r>
              <a:rPr lang="en-IN" sz="1000" dirty="0"/>
              <a:t>	}</a:t>
            </a:r>
          </a:p>
          <a:p>
            <a:pPr marL="139700" indent="0">
              <a:buNone/>
            </a:pPr>
            <a:r>
              <a:rPr lang="en-IN" sz="1000" dirty="0"/>
              <a:t>	</a:t>
            </a:r>
            <a:r>
              <a:rPr lang="en-IN" sz="1000" dirty="0" err="1"/>
              <a:t>DelayMs</a:t>
            </a:r>
            <a:r>
              <a:rPr lang="en-IN" sz="1000" dirty="0"/>
              <a:t>(500);</a:t>
            </a:r>
          </a:p>
          <a:p>
            <a:pPr marL="139700" indent="0">
              <a:buNone/>
            </a:pPr>
            <a:r>
              <a:rPr lang="en-IN" sz="1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41642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LCD COMMAND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IN" sz="1000" dirty="0"/>
              <a:t>void </a:t>
            </a:r>
            <a:r>
              <a:rPr lang="en-IN" sz="1000" dirty="0" err="1"/>
              <a:t>lcdclr</a:t>
            </a:r>
            <a:r>
              <a:rPr lang="en-IN" sz="1000" dirty="0"/>
              <a:t>(void)													//Send LCD clear command</a:t>
            </a:r>
          </a:p>
          <a:p>
            <a:pPr marL="139700" indent="0">
              <a:buNone/>
            </a:pPr>
            <a:r>
              <a:rPr lang="en-IN" sz="1000" dirty="0"/>
              <a:t>{</a:t>
            </a:r>
          </a:p>
          <a:p>
            <a:pPr marL="139700" indent="0">
              <a:buNone/>
            </a:pPr>
            <a:r>
              <a:rPr lang="en-IN" sz="1000" dirty="0"/>
              <a:t>	</a:t>
            </a:r>
            <a:r>
              <a:rPr lang="en-IN" sz="1000" dirty="0" err="1"/>
              <a:t>lcdcomd</a:t>
            </a:r>
            <a:r>
              <a:rPr lang="en-IN" sz="1000" dirty="0"/>
              <a:t>(0x01);				</a:t>
            </a:r>
          </a:p>
          <a:p>
            <a:pPr marL="139700" indent="0">
              <a:buNone/>
            </a:pPr>
            <a:r>
              <a:rPr lang="en-IN" sz="1000" dirty="0"/>
              <a:t>	</a:t>
            </a:r>
            <a:r>
              <a:rPr lang="en-IN" sz="1000" dirty="0" err="1"/>
              <a:t>DelayMs</a:t>
            </a:r>
            <a:r>
              <a:rPr lang="en-IN" sz="1000" dirty="0"/>
              <a:t>(2);</a:t>
            </a:r>
          </a:p>
          <a:p>
            <a:pPr marL="139700" indent="0">
              <a:buNone/>
            </a:pPr>
            <a:r>
              <a:rPr lang="en-IN" sz="1000" dirty="0"/>
              <a:t>}                   </a:t>
            </a:r>
          </a:p>
          <a:p>
            <a:pPr marL="139700" indent="0">
              <a:buNone/>
            </a:pPr>
            <a:r>
              <a:rPr lang="en-IN" sz="1000" dirty="0"/>
              <a:t>		</a:t>
            </a:r>
          </a:p>
          <a:p>
            <a:pPr marL="139700" indent="0">
              <a:buNone/>
            </a:pPr>
            <a:r>
              <a:rPr lang="en-IN" sz="1000" dirty="0"/>
              <a:t>void </a:t>
            </a:r>
            <a:r>
              <a:rPr lang="en-IN" sz="1000" dirty="0" err="1"/>
              <a:t>lcdcomd</a:t>
            </a:r>
            <a:r>
              <a:rPr lang="en-IN" sz="1000" dirty="0"/>
              <a:t>(unsigned char </a:t>
            </a:r>
            <a:r>
              <a:rPr lang="en-IN" sz="1000" dirty="0" err="1"/>
              <a:t>cmd</a:t>
            </a:r>
            <a:r>
              <a:rPr lang="en-IN" sz="1000" dirty="0"/>
              <a:t>)</a:t>
            </a:r>
          </a:p>
          <a:p>
            <a:pPr marL="139700" indent="0">
              <a:buNone/>
            </a:pPr>
            <a:r>
              <a:rPr lang="en-IN" sz="1000" dirty="0"/>
              <a:t>{	</a:t>
            </a:r>
          </a:p>
          <a:p>
            <a:pPr marL="139700" indent="0">
              <a:buNone/>
            </a:pPr>
            <a:r>
              <a:rPr lang="en-IN" sz="1000" dirty="0"/>
              <a:t>	RS=0;	RW=0;													//Select Command Register, R/W--write enabled</a:t>
            </a:r>
          </a:p>
          <a:p>
            <a:pPr marL="139700" indent="0">
              <a:buNone/>
            </a:pPr>
            <a:r>
              <a:rPr lang="en-IN" sz="1000" dirty="0"/>
              <a:t>	EN=1;															//Enable LCD to accept commands</a:t>
            </a:r>
          </a:p>
          <a:p>
            <a:pPr marL="139700" indent="0">
              <a:buNone/>
            </a:pPr>
            <a:r>
              <a:rPr lang="en-IN" sz="1000" dirty="0"/>
              <a:t>	DATA=</a:t>
            </a:r>
            <a:r>
              <a:rPr lang="en-IN" sz="1000" dirty="0" err="1"/>
              <a:t>cmd</a:t>
            </a:r>
            <a:r>
              <a:rPr lang="en-IN" sz="1000" dirty="0"/>
              <a:t>;										</a:t>
            </a:r>
          </a:p>
          <a:p>
            <a:pPr marL="139700" indent="0">
              <a:buNone/>
            </a:pPr>
            <a:r>
              <a:rPr lang="en-IN" sz="1000" dirty="0"/>
              <a:t>	EN=0;		</a:t>
            </a:r>
          </a:p>
          <a:p>
            <a:pPr marL="139700" indent="0">
              <a:buNone/>
            </a:pPr>
            <a:r>
              <a:rPr lang="en-IN" sz="1000" dirty="0"/>
              <a:t>	</a:t>
            </a:r>
            <a:r>
              <a:rPr lang="en-IN" sz="1000" dirty="0" err="1"/>
              <a:t>DelayMs</a:t>
            </a:r>
            <a:r>
              <a:rPr lang="en-IN" sz="1000" dirty="0"/>
              <a:t>(5);														//Give a Pulse via Enable pin </a:t>
            </a:r>
          </a:p>
          <a:p>
            <a:pPr marL="139700" indent="0">
              <a:buNone/>
            </a:pPr>
            <a:r>
              <a:rPr lang="en-IN" sz="1000" dirty="0"/>
              <a:t>}</a:t>
            </a:r>
          </a:p>
          <a:p>
            <a:pPr marL="139700" indent="0">
              <a:buNone/>
            </a:pPr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3897696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LCD Data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IN" sz="1200" dirty="0"/>
              <a:t>void </a:t>
            </a:r>
            <a:r>
              <a:rPr lang="en-IN" sz="1200" dirty="0" err="1"/>
              <a:t>lcddata</a:t>
            </a:r>
            <a:r>
              <a:rPr lang="en-IN" sz="1200" dirty="0"/>
              <a:t>(unsigned char byte) </a:t>
            </a:r>
          </a:p>
          <a:p>
            <a:pPr marL="139700" indent="0">
              <a:buNone/>
            </a:pPr>
            <a:r>
              <a:rPr lang="en-IN" sz="1200" dirty="0"/>
              <a:t>{				</a:t>
            </a:r>
          </a:p>
          <a:p>
            <a:pPr marL="139700" indent="0">
              <a:buNone/>
            </a:pPr>
            <a:r>
              <a:rPr lang="en-IN" sz="1200" dirty="0"/>
              <a:t>	RS=1;	RW=0;													//Select Data register, R/W--write enabled</a:t>
            </a:r>
          </a:p>
          <a:p>
            <a:pPr marL="139700" indent="0">
              <a:buNone/>
            </a:pPr>
            <a:r>
              <a:rPr lang="en-IN" sz="1200" dirty="0"/>
              <a:t>	EN=1;</a:t>
            </a:r>
          </a:p>
          <a:p>
            <a:pPr marL="139700" indent="0">
              <a:buNone/>
            </a:pPr>
            <a:r>
              <a:rPr lang="en-IN" sz="1200" dirty="0"/>
              <a:t>	DATA=byte;										//Give a Pulse via Enable pin </a:t>
            </a:r>
          </a:p>
          <a:p>
            <a:pPr marL="139700" indent="0">
              <a:buNone/>
            </a:pPr>
            <a:r>
              <a:rPr lang="en-IN" sz="1200" dirty="0"/>
              <a:t>	EN=0;</a:t>
            </a:r>
          </a:p>
          <a:p>
            <a:pPr marL="139700" indent="0">
              <a:buNone/>
            </a:pPr>
            <a:r>
              <a:rPr lang="en-IN" sz="1200" dirty="0"/>
              <a:t>	</a:t>
            </a:r>
            <a:r>
              <a:rPr lang="en-IN" sz="1200" dirty="0" err="1"/>
              <a:t>DelayMs</a:t>
            </a:r>
            <a:r>
              <a:rPr lang="en-IN" sz="1200" dirty="0"/>
              <a:t>(5);	</a:t>
            </a:r>
          </a:p>
          <a:p>
            <a:pPr marL="139700" indent="0">
              <a:buNone/>
            </a:pPr>
            <a:r>
              <a:rPr lang="en-IN" sz="1200" dirty="0"/>
              <a:t>}</a:t>
            </a:r>
          </a:p>
          <a:p>
            <a:pPr marL="139700" indent="0">
              <a:buNone/>
            </a:pPr>
            <a:endParaRPr lang="en-IN" sz="1200" dirty="0"/>
          </a:p>
          <a:p>
            <a:pPr marL="139700" indent="0">
              <a:buNone/>
            </a:pPr>
            <a:r>
              <a:rPr lang="en-IN" sz="1200" dirty="0"/>
              <a:t>void </a:t>
            </a:r>
            <a:r>
              <a:rPr lang="en-IN" sz="1200" dirty="0" err="1"/>
              <a:t>DelayMs</a:t>
            </a:r>
            <a:r>
              <a:rPr lang="en-IN" sz="1200" dirty="0"/>
              <a:t>(unsigned </a:t>
            </a:r>
            <a:r>
              <a:rPr lang="en-IN" sz="1200" dirty="0" err="1"/>
              <a:t>int</a:t>
            </a:r>
            <a:r>
              <a:rPr lang="en-IN" sz="1200" dirty="0"/>
              <a:t> Ms)</a:t>
            </a:r>
          </a:p>
          <a:p>
            <a:pPr marL="139700" indent="0">
              <a:buNone/>
            </a:pPr>
            <a:r>
              <a:rPr lang="en-IN" sz="1200" dirty="0"/>
              <a:t>{</a:t>
            </a:r>
          </a:p>
          <a:p>
            <a:pPr marL="139700" indent="0">
              <a:buNone/>
            </a:pPr>
            <a:r>
              <a:rPr lang="en-IN" sz="1200" dirty="0"/>
              <a:t>	</a:t>
            </a:r>
            <a:r>
              <a:rPr lang="en-IN" sz="1200" dirty="0" err="1"/>
              <a:t>int</a:t>
            </a:r>
            <a:r>
              <a:rPr lang="en-IN" sz="1200" dirty="0"/>
              <a:t> </a:t>
            </a:r>
            <a:r>
              <a:rPr lang="en-IN" sz="1200" dirty="0" err="1"/>
              <a:t>delay_cnst</a:t>
            </a:r>
            <a:r>
              <a:rPr lang="en-IN" sz="1200" dirty="0"/>
              <a:t>;</a:t>
            </a:r>
          </a:p>
          <a:p>
            <a:pPr marL="139700" indent="0">
              <a:buNone/>
            </a:pPr>
            <a:r>
              <a:rPr lang="en-IN" sz="1200" dirty="0"/>
              <a:t>	while(Ms&gt;0)</a:t>
            </a:r>
          </a:p>
          <a:p>
            <a:pPr marL="139700" indent="0">
              <a:buNone/>
            </a:pPr>
            <a:r>
              <a:rPr lang="en-IN" sz="1200" dirty="0"/>
              <a:t>	{</a:t>
            </a:r>
          </a:p>
          <a:p>
            <a:pPr marL="139700" indent="0">
              <a:buNone/>
            </a:pPr>
            <a:r>
              <a:rPr lang="en-IN" sz="1200" dirty="0"/>
              <a:t>		Ms--;</a:t>
            </a:r>
          </a:p>
          <a:p>
            <a:pPr marL="139700" indent="0">
              <a:buNone/>
            </a:pPr>
            <a:r>
              <a:rPr lang="en-IN" sz="1200" dirty="0"/>
              <a:t>		for(</a:t>
            </a:r>
            <a:r>
              <a:rPr lang="en-IN" sz="1200" dirty="0" err="1"/>
              <a:t>delay_cnst</a:t>
            </a:r>
            <a:r>
              <a:rPr lang="en-IN" sz="1200" dirty="0"/>
              <a:t> = 0;delay_cnst &lt;220;delay_cnst++);</a:t>
            </a:r>
          </a:p>
          <a:p>
            <a:pPr marL="139700" indent="0">
              <a:buNone/>
            </a:pPr>
            <a:r>
              <a:rPr lang="en-IN" sz="1200" dirty="0"/>
              <a:t>	}</a:t>
            </a:r>
          </a:p>
          <a:p>
            <a:pPr marL="139700" indent="0">
              <a:buNone/>
            </a:pPr>
            <a:r>
              <a:rPr lang="en-IN" sz="1200"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4614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849" y="2013573"/>
            <a:ext cx="7704000" cy="572700"/>
          </a:xfrm>
        </p:spPr>
        <p:txBody>
          <a:bodyPr/>
          <a:lstStyle/>
          <a:p>
            <a:r>
              <a:rPr lang="en-US" sz="7200" dirty="0" smtClean="0">
                <a:solidFill>
                  <a:schemeClr val="tx2"/>
                </a:solidFill>
              </a:rPr>
              <a:t>Thank You</a:t>
            </a:r>
            <a:endParaRPr lang="en-IN" sz="7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7212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athematics Subject for Middle School - 6th Grade: Algebra by Slidesgo">
  <a:themeElements>
    <a:clrScheme name="Simple Light">
      <a:dk1>
        <a:srgbClr val="191919"/>
      </a:dk1>
      <a:lt1>
        <a:srgbClr val="07246E"/>
      </a:lt1>
      <a:dk2>
        <a:srgbClr val="0F327F"/>
      </a:dk2>
      <a:lt2>
        <a:srgbClr val="FF3141"/>
      </a:lt2>
      <a:accent1>
        <a:srgbClr val="FFB400"/>
      </a:accent1>
      <a:accent2>
        <a:srgbClr val="00B6FF"/>
      </a:accent2>
      <a:accent3>
        <a:srgbClr val="EDEDED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6582</TotalTime>
  <Words>205</Words>
  <Application>Microsoft Office PowerPoint</Application>
  <PresentationFormat>On-screen Show (16:9)</PresentationFormat>
  <Paragraphs>140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Karla Regular</vt:lpstr>
      <vt:lpstr>Roboto</vt:lpstr>
      <vt:lpstr>Fire sans extra</vt:lpstr>
      <vt:lpstr>Wingdings</vt:lpstr>
      <vt:lpstr>Montserrat</vt:lpstr>
      <vt:lpstr>Nunito</vt:lpstr>
      <vt:lpstr>Mathematics Subject for Middle School - 6th Grade: Algebra by Slidesgo</vt:lpstr>
      <vt:lpstr>Interface LCD with PIC</vt:lpstr>
      <vt:lpstr>PowerPoint Presentation</vt:lpstr>
      <vt:lpstr>Mindset Lesson for the Day</vt:lpstr>
      <vt:lpstr>Embedded System Design using PIC</vt:lpstr>
      <vt:lpstr>PIC PIN Diagram</vt:lpstr>
      <vt:lpstr>PIN Details of LCD</vt:lpstr>
      <vt:lpstr>Character Display LCD</vt:lpstr>
      <vt:lpstr>COMMAND CODES</vt:lpstr>
      <vt:lpstr>Schematic Diagram of LCD</vt:lpstr>
      <vt:lpstr>Header File and Declarations</vt:lpstr>
      <vt:lpstr>Main</vt:lpstr>
      <vt:lpstr>LCD Initialization</vt:lpstr>
      <vt:lpstr>LCD COMMAND</vt:lpstr>
      <vt:lpstr>LCD Data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EMBEDDED SYSTEM DESIGN &amp; IoT</dc:title>
  <dc:creator>jeeva rajan</dc:creator>
  <cp:lastModifiedBy>PANTECH</cp:lastModifiedBy>
  <cp:revision>610</cp:revision>
  <dcterms:modified xsi:type="dcterms:W3CDTF">2021-07-25T06:43:33Z</dcterms:modified>
</cp:coreProperties>
</file>