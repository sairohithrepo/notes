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2"/>
  </p:notesMasterIdLst>
  <p:sldIdLst>
    <p:sldId id="256" r:id="rId2"/>
    <p:sldId id="418" r:id="rId3"/>
    <p:sldId id="363" r:id="rId4"/>
    <p:sldId id="419" r:id="rId5"/>
    <p:sldId id="433" r:id="rId6"/>
    <p:sldId id="434" r:id="rId7"/>
    <p:sldId id="420" r:id="rId8"/>
    <p:sldId id="421" r:id="rId9"/>
    <p:sldId id="422" r:id="rId10"/>
    <p:sldId id="423" r:id="rId11"/>
    <p:sldId id="424" r:id="rId12"/>
    <p:sldId id="425" r:id="rId13"/>
    <p:sldId id="426" r:id="rId14"/>
    <p:sldId id="427" r:id="rId15"/>
    <p:sldId id="428" r:id="rId16"/>
    <p:sldId id="429" r:id="rId17"/>
    <p:sldId id="430" r:id="rId18"/>
    <p:sldId id="432" r:id="rId19"/>
    <p:sldId id="435" r:id="rId20"/>
    <p:sldId id="348" r:id="rId2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Nunito" panose="020B0604020202020204" charset="0"/>
      <p:regular r:id="rId27"/>
      <p:bold r:id="rId28"/>
      <p:italic r:id="rId29"/>
      <p:boldItalic r:id="rId30"/>
    </p:embeddedFont>
    <p:embeddedFont>
      <p:font typeface="Karla Regular" panose="020B0604020202020204" charset="0"/>
      <p:bold r:id="rId31"/>
      <p:boldItalic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7D1900-AC4F-4A15-BEC6-FC9A572E3F83}">
  <a:tblStyle styleId="{7C7D1900-AC4F-4A15-BEC6-FC9A572E3F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472" autoAdjust="0"/>
  </p:normalViewPr>
  <p:slideViewPr>
    <p:cSldViewPr snapToGrid="0">
      <p:cViewPr varScale="1">
        <p:scale>
          <a:sx n="110" d="100"/>
          <a:sy n="110" d="100"/>
        </p:scale>
        <p:origin x="691" y="11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4953000" y="4629150"/>
            <a:ext cx="4343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9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2" r:id="rId3"/>
    <p:sldLayoutId id="2147483681" r:id="rId4"/>
    <p:sldLayoutId id="2147483682" r:id="rId5"/>
    <p:sldLayoutId id="2147483683" r:id="rId6"/>
    <p:sldLayoutId id="214748368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1873037" y="312994"/>
            <a:ext cx="6736302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 smtClean="0"/>
              <a:t>Introduction to MPLAB IDE and LED Blinking</a:t>
            </a:r>
            <a:endParaRPr sz="40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241963" y="3620121"/>
            <a:ext cx="5140037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1600" dirty="0"/>
              <a:t>EMBEDDED SYSTEM </a:t>
            </a:r>
            <a:r>
              <a:rPr lang="en" sz="1600" dirty="0" smtClean="0"/>
              <a:t>DESIGN &amp; IoT-Master Class</a:t>
            </a:r>
            <a:endParaRPr sz="16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-77280" y="4354934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197795" y="211850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         </a:t>
            </a:r>
            <a:r>
              <a:rPr lang="en" sz="1800" b="1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DAY 19</a:t>
            </a:r>
            <a:endParaRPr sz="100" b="1" dirty="0">
              <a:latin typeface="Montserrat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19" y="1070028"/>
            <a:ext cx="1174118" cy="1102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600" b="1" dirty="0" smtClean="0">
                <a:solidFill>
                  <a:schemeClr val="tx2"/>
                </a:solidFill>
                <a:latin typeface="Fire sans extra"/>
              </a:rPr>
              <a:t>What You will learn Today?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11700" y="1242808"/>
            <a:ext cx="7924800" cy="23574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</a:rPr>
              <a:t>Embedded system design using PIC</a:t>
            </a:r>
            <a:endParaRPr lang="en-US" sz="32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Introduction to MPLAB IDE</a:t>
            </a: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LED Blinking</a:t>
            </a: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6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63" y="190165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Mindset Lesson for the Day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81" y="1156205"/>
            <a:ext cx="8520600" cy="1272071"/>
          </a:xfrm>
        </p:spPr>
        <p:txBody>
          <a:bodyPr/>
          <a:lstStyle/>
          <a:p>
            <a:pPr marL="139700" indent="0">
              <a:buNone/>
            </a:pPr>
            <a:r>
              <a:rPr lang="en-US" sz="4400" b="1" dirty="0" smtClean="0">
                <a:solidFill>
                  <a:schemeClr val="tx1"/>
                </a:solidFill>
              </a:rPr>
              <a:t>Model the successful people.</a:t>
            </a:r>
            <a:endParaRPr lang="en-US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34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37" y="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Embedded System Design using PIC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64" y="1170704"/>
            <a:ext cx="5230108" cy="36023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65619" y="879008"/>
            <a:ext cx="4572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40pin-SIF Socket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8 Nos. Point LEDs (Logic Output)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8 Nos. Digital Input (DIP Switch)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4x4 Matrix Keypad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2X16 Character LCD (Background Light)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 Nos. 7-Segment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2 Nos. Analog Input (Potentiometer)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Temperature Sensor (LM35)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Stepper Motor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2 Nos. of SPST Relay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DS1307 RTC with Batter-Backup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USART(RS232)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USB 2.0 Enabled Programmer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Interrupts Study, Reset 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SPI – EEPROM.25C040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I2C EEPROM 24C04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Digital Temperature Sensor(DS18S20)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4x10-Pin Expansion Connector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Piezo Electric Buzzer</a:t>
            </a:r>
          </a:p>
        </p:txBody>
      </p:sp>
    </p:spTree>
    <p:extLst>
      <p:ext uri="{BB962C8B-B14F-4D97-AF65-F5344CB8AC3E}">
        <p14:creationId xmlns:p14="http://schemas.microsoft.com/office/powerpoint/2010/main" val="313806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8625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PIC PIN Diagram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00" y="1094925"/>
            <a:ext cx="4157401" cy="3416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5225"/>
            <a:ext cx="4416099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7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500" y="92225"/>
            <a:ext cx="8520600" cy="572700"/>
          </a:xfrm>
        </p:spPr>
        <p:txBody>
          <a:bodyPr/>
          <a:lstStyle/>
          <a:p>
            <a:r>
              <a:rPr lang="en-US" sz="2000" dirty="0" smtClean="0">
                <a:solidFill>
                  <a:schemeClr val="tx2"/>
                </a:solidFill>
              </a:rPr>
              <a:t>Block Diagram-Refer PIC16F877A Datasheet-Page 7</a:t>
            </a:r>
            <a:endParaRPr lang="en-IN" sz="2000" dirty="0">
              <a:solidFill>
                <a:schemeClr val="tx2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106" y="661875"/>
            <a:ext cx="6228494" cy="439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2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Power Supply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303" y="1152525"/>
            <a:ext cx="8467393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27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09" y="12637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Oscillator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99" y="1038364"/>
            <a:ext cx="4342856" cy="3416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708" y="979621"/>
            <a:ext cx="4544291" cy="377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0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264" y="257989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LED Interface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299" y="1021769"/>
            <a:ext cx="3499149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79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UART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617" y="1212850"/>
            <a:ext cx="4913567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594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788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DS1820 –Temperature sensor Interface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00" y="1276726"/>
            <a:ext cx="3934374" cy="287695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687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Buzzer and Relay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714" y="1115287"/>
            <a:ext cx="6437080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28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SPI and I2C EEPROM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222" y="1212850"/>
            <a:ext cx="3988356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533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900" y="216425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Keypad Interface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170" y="1115287"/>
            <a:ext cx="332926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52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DIP SWITCH Interface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384" y="1115287"/>
            <a:ext cx="5252939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24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LCD Interface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535" y="1115287"/>
            <a:ext cx="2487110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924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Stepper Motor Interface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615" y="1115287"/>
            <a:ext cx="2698662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386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Software to be Installed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18" y="1844863"/>
            <a:ext cx="8520600" cy="745937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MPLAB IDE 8.63</a:t>
            </a:r>
            <a:endParaRPr lang="en-IN" sz="4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831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-66725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IN" sz="1000" dirty="0"/>
              <a:t>#include &lt;</a:t>
            </a:r>
            <a:r>
              <a:rPr lang="en-IN" sz="1000" dirty="0" err="1"/>
              <a:t>pic.h</a:t>
            </a:r>
            <a:r>
              <a:rPr lang="en-IN" sz="1000" dirty="0"/>
              <a:t>&gt;				//Define PIC Registers</a:t>
            </a:r>
          </a:p>
          <a:p>
            <a:pPr marL="139700" indent="0">
              <a:buNone/>
            </a:pPr>
            <a:endParaRPr lang="en-IN" sz="1000" dirty="0"/>
          </a:p>
          <a:p>
            <a:pPr marL="139700" indent="0">
              <a:buNone/>
            </a:pPr>
            <a:r>
              <a:rPr lang="en-IN" sz="1000" dirty="0"/>
              <a:t>__CONFIG(0x3f72</a:t>
            </a:r>
            <a:r>
              <a:rPr lang="en-IN" sz="1000" dirty="0" smtClean="0"/>
              <a:t>); //</a:t>
            </a:r>
            <a:r>
              <a:rPr lang="en-IN" sz="1000" dirty="0"/>
              <a:t>Select HS oscillator, Enable (PWRTE,BOREN), Turn OFF (</a:t>
            </a:r>
            <a:r>
              <a:rPr lang="en-IN" sz="1000" dirty="0" err="1"/>
              <a:t>CPD,CP,WDTEN,In</a:t>
            </a:r>
            <a:r>
              <a:rPr lang="en-IN" sz="1000" dirty="0"/>
              <a:t>-circuit Debugger).</a:t>
            </a:r>
          </a:p>
          <a:p>
            <a:pPr marL="139700" indent="0">
              <a:buNone/>
            </a:pPr>
            <a:endParaRPr lang="en-IN" sz="1000" dirty="0"/>
          </a:p>
          <a:p>
            <a:pPr marL="139700" indent="0">
              <a:buNone/>
            </a:pPr>
            <a:r>
              <a:rPr lang="en-IN" sz="1000" dirty="0"/>
              <a:t>void </a:t>
            </a:r>
            <a:r>
              <a:rPr lang="en-IN" sz="1000" dirty="0" err="1"/>
              <a:t>DelayMs</a:t>
            </a:r>
            <a:r>
              <a:rPr lang="en-IN" sz="1000" dirty="0"/>
              <a:t>(unsigned </a:t>
            </a:r>
            <a:r>
              <a:rPr lang="en-IN" sz="1000" dirty="0" err="1"/>
              <a:t>int</a:t>
            </a:r>
            <a:r>
              <a:rPr lang="en-IN" sz="1000" dirty="0"/>
              <a:t>);</a:t>
            </a:r>
          </a:p>
          <a:p>
            <a:pPr marL="139700" indent="0">
              <a:buNone/>
            </a:pPr>
            <a:r>
              <a:rPr lang="en-IN" sz="1000" dirty="0" smtClean="0"/>
              <a:t>void </a:t>
            </a:r>
            <a:r>
              <a:rPr lang="en-IN" sz="1000" dirty="0"/>
              <a:t>main()</a:t>
            </a:r>
          </a:p>
          <a:p>
            <a:pPr marL="139700" indent="0">
              <a:buNone/>
            </a:pPr>
            <a:r>
              <a:rPr lang="en-IN" sz="1000" dirty="0"/>
              <a:t>{</a:t>
            </a:r>
          </a:p>
          <a:p>
            <a:pPr marL="139700" indent="0">
              <a:buNone/>
            </a:pPr>
            <a:r>
              <a:rPr lang="en-IN" sz="1000" dirty="0"/>
              <a:t>	</a:t>
            </a:r>
            <a:r>
              <a:rPr lang="en-IN" sz="1000" dirty="0" smtClean="0"/>
              <a:t>TRISB  </a:t>
            </a:r>
            <a:r>
              <a:rPr lang="en-IN" sz="1000" dirty="0"/>
              <a:t>=  0x00;				//PORTB Configured as O/P</a:t>
            </a:r>
          </a:p>
          <a:p>
            <a:pPr marL="139700" indent="0">
              <a:buNone/>
            </a:pPr>
            <a:r>
              <a:rPr lang="en-IN" sz="1000" dirty="0"/>
              <a:t>	</a:t>
            </a:r>
          </a:p>
          <a:p>
            <a:pPr marL="139700" indent="0">
              <a:buNone/>
            </a:pPr>
            <a:r>
              <a:rPr lang="en-IN" sz="1000" dirty="0"/>
              <a:t>	while(1)</a:t>
            </a:r>
          </a:p>
          <a:p>
            <a:pPr marL="139700" indent="0">
              <a:buNone/>
            </a:pPr>
            <a:r>
              <a:rPr lang="en-IN" sz="1000" dirty="0"/>
              <a:t>	{</a:t>
            </a:r>
          </a:p>
          <a:p>
            <a:pPr marL="139700" indent="0">
              <a:buNone/>
            </a:pPr>
            <a:r>
              <a:rPr lang="en-IN" sz="1000" dirty="0" smtClean="0"/>
              <a:t>			PORTB = 0xff;		//Enable all the LED's connected to PORTB</a:t>
            </a:r>
          </a:p>
          <a:p>
            <a:pPr marL="139700" indent="0">
              <a:buNone/>
            </a:pPr>
            <a:r>
              <a:rPr lang="en-IN" sz="1000" dirty="0"/>
              <a:t>			</a:t>
            </a:r>
            <a:r>
              <a:rPr lang="en-IN" sz="1000" dirty="0" err="1" smtClean="0"/>
              <a:t>DelayMs</a:t>
            </a:r>
            <a:r>
              <a:rPr lang="en-IN" sz="1000" dirty="0" smtClean="0"/>
              <a:t>(500</a:t>
            </a:r>
            <a:r>
              <a:rPr lang="en-IN" sz="1000" dirty="0"/>
              <a:t>);		//Half second Delay</a:t>
            </a:r>
          </a:p>
          <a:p>
            <a:pPr marL="139700" indent="0">
              <a:buNone/>
            </a:pPr>
            <a:r>
              <a:rPr lang="en-IN" sz="1000" dirty="0"/>
              <a:t>		</a:t>
            </a:r>
          </a:p>
          <a:p>
            <a:pPr marL="139700" indent="0">
              <a:buNone/>
            </a:pPr>
            <a:r>
              <a:rPr lang="en-IN" sz="1000" dirty="0"/>
              <a:t>			</a:t>
            </a:r>
            <a:r>
              <a:rPr lang="en-IN" sz="1000" dirty="0" smtClean="0"/>
              <a:t>PORTB </a:t>
            </a:r>
            <a:r>
              <a:rPr lang="en-IN" sz="1000" dirty="0"/>
              <a:t>= 0;			//Turn OFF all the LED's connected to PORTB</a:t>
            </a:r>
          </a:p>
          <a:p>
            <a:pPr marL="139700" indent="0">
              <a:buNone/>
            </a:pPr>
            <a:r>
              <a:rPr lang="en-IN" sz="1000" dirty="0"/>
              <a:t>			</a:t>
            </a:r>
            <a:r>
              <a:rPr lang="en-IN" sz="1000" dirty="0" err="1" smtClean="0"/>
              <a:t>DelayMs</a:t>
            </a:r>
            <a:r>
              <a:rPr lang="en-IN" sz="1000" dirty="0" smtClean="0"/>
              <a:t>(500</a:t>
            </a:r>
            <a:r>
              <a:rPr lang="en-IN" sz="1000" dirty="0"/>
              <a:t>);		//Half second Delay	</a:t>
            </a:r>
          </a:p>
          <a:p>
            <a:pPr marL="139700" indent="0">
              <a:buNone/>
            </a:pPr>
            <a:r>
              <a:rPr lang="en-IN" sz="1000" dirty="0"/>
              <a:t>	}</a:t>
            </a:r>
          </a:p>
          <a:p>
            <a:pPr marL="139700" indent="0">
              <a:buNone/>
            </a:pPr>
            <a:r>
              <a:rPr lang="en-IN" sz="1000" dirty="0"/>
              <a:t>}</a:t>
            </a:r>
          </a:p>
          <a:p>
            <a:pPr marL="139700" indent="0">
              <a:buNone/>
            </a:pPr>
            <a:endParaRPr lang="en-IN" sz="1000" dirty="0"/>
          </a:p>
          <a:p>
            <a:pPr marL="139700" indent="0">
              <a:buNone/>
            </a:pPr>
            <a:r>
              <a:rPr lang="en-IN" sz="1000" dirty="0"/>
              <a:t>void </a:t>
            </a:r>
            <a:r>
              <a:rPr lang="en-IN" sz="1000" dirty="0" err="1"/>
              <a:t>DelayMs</a:t>
            </a:r>
            <a:r>
              <a:rPr lang="en-IN" sz="1000" dirty="0"/>
              <a:t>(unsigned </a:t>
            </a:r>
            <a:r>
              <a:rPr lang="en-IN" sz="1000" dirty="0" err="1"/>
              <a:t>int</a:t>
            </a:r>
            <a:r>
              <a:rPr lang="en-IN" sz="1000" dirty="0"/>
              <a:t> Ms)</a:t>
            </a:r>
          </a:p>
          <a:p>
            <a:pPr marL="139700" indent="0">
              <a:buNone/>
            </a:pPr>
            <a:r>
              <a:rPr lang="en-IN" sz="1000" dirty="0"/>
              <a:t>{</a:t>
            </a:r>
          </a:p>
          <a:p>
            <a:pPr marL="139700" indent="0">
              <a:buNone/>
            </a:pPr>
            <a:r>
              <a:rPr lang="en-IN" sz="1000" dirty="0"/>
              <a:t>	</a:t>
            </a:r>
            <a:r>
              <a:rPr lang="en-IN" sz="1000" dirty="0" err="1"/>
              <a:t>int</a:t>
            </a:r>
            <a:r>
              <a:rPr lang="en-IN" sz="1000" dirty="0"/>
              <a:t> </a:t>
            </a:r>
            <a:r>
              <a:rPr lang="en-IN" sz="1000" dirty="0" err="1"/>
              <a:t>delay_cnst</a:t>
            </a:r>
            <a:r>
              <a:rPr lang="en-IN" sz="1000" dirty="0"/>
              <a:t>;</a:t>
            </a:r>
          </a:p>
          <a:p>
            <a:pPr marL="139700" indent="0">
              <a:buNone/>
            </a:pPr>
            <a:r>
              <a:rPr lang="en-IN" sz="1000" dirty="0"/>
              <a:t>	while(Ms&gt;0)</a:t>
            </a:r>
          </a:p>
          <a:p>
            <a:pPr marL="139700" indent="0">
              <a:buNone/>
            </a:pPr>
            <a:r>
              <a:rPr lang="en-IN" sz="1000" dirty="0"/>
              <a:t>	{</a:t>
            </a:r>
          </a:p>
          <a:p>
            <a:pPr marL="139700" indent="0">
              <a:buNone/>
            </a:pPr>
            <a:r>
              <a:rPr lang="en-IN" sz="1000" dirty="0"/>
              <a:t>		Ms--;</a:t>
            </a:r>
          </a:p>
          <a:p>
            <a:pPr marL="139700" indent="0">
              <a:buNone/>
            </a:pPr>
            <a:r>
              <a:rPr lang="en-IN" sz="1000" dirty="0"/>
              <a:t>		for(</a:t>
            </a:r>
            <a:r>
              <a:rPr lang="en-IN" sz="1000" dirty="0" err="1"/>
              <a:t>delay_cnst</a:t>
            </a:r>
            <a:r>
              <a:rPr lang="en-IN" sz="1000" dirty="0"/>
              <a:t> = 0;delay_cnst &lt;220;delay_cnst++);</a:t>
            </a:r>
          </a:p>
          <a:p>
            <a:pPr marL="139700" indent="0">
              <a:buNone/>
            </a:pPr>
            <a:r>
              <a:rPr lang="en-IN" sz="1000" dirty="0"/>
              <a:t>	}</a:t>
            </a:r>
          </a:p>
          <a:p>
            <a:pPr marL="139700" indent="0">
              <a:buNone/>
            </a:pPr>
            <a:r>
              <a:rPr lang="en-IN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2632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49" y="2013573"/>
            <a:ext cx="7704000" cy="572700"/>
          </a:xfrm>
        </p:spPr>
        <p:txBody>
          <a:bodyPr/>
          <a:lstStyle/>
          <a:p>
            <a:r>
              <a:rPr lang="en-US" sz="7200" dirty="0" smtClean="0">
                <a:solidFill>
                  <a:schemeClr val="tx2"/>
                </a:solidFill>
              </a:rPr>
              <a:t>Thank You</a:t>
            </a:r>
            <a:endParaRPr lang="en-IN" sz="7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2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6244</TotalTime>
  <Words>252</Words>
  <Application>Microsoft Office PowerPoint</Application>
  <PresentationFormat>On-screen Show (16:9)</PresentationFormat>
  <Paragraphs>100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Roboto</vt:lpstr>
      <vt:lpstr>Nunito</vt:lpstr>
      <vt:lpstr>Wingdings</vt:lpstr>
      <vt:lpstr>Karla Regular</vt:lpstr>
      <vt:lpstr>Montserrat</vt:lpstr>
      <vt:lpstr>Fire sans extra</vt:lpstr>
      <vt:lpstr>Mathematics Subject for Middle School - 6th Grade: Algebra by Slidesgo</vt:lpstr>
      <vt:lpstr>Introduction to MPLAB IDE and LED Blinking</vt:lpstr>
      <vt:lpstr>PowerPoint Presentation</vt:lpstr>
      <vt:lpstr>Mindset Lesson for the Day</vt:lpstr>
      <vt:lpstr>Embedded System Design using PIC</vt:lpstr>
      <vt:lpstr>PIC PIN Diagram</vt:lpstr>
      <vt:lpstr>Block Diagram-Refer PIC16F877A Datasheet-Page 7</vt:lpstr>
      <vt:lpstr>Power Supply</vt:lpstr>
      <vt:lpstr>Oscillator</vt:lpstr>
      <vt:lpstr>LED Interface</vt:lpstr>
      <vt:lpstr>UART</vt:lpstr>
      <vt:lpstr>DS1820 –Temperature sensor Interface</vt:lpstr>
      <vt:lpstr>Buzzer and Relay</vt:lpstr>
      <vt:lpstr>SPI and I2C EEPROM</vt:lpstr>
      <vt:lpstr>Keypad Interface</vt:lpstr>
      <vt:lpstr>DIP SWITCH Interface</vt:lpstr>
      <vt:lpstr>LCD Interface</vt:lpstr>
      <vt:lpstr>Stepper Motor Interface</vt:lpstr>
      <vt:lpstr>Software to be Installed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DESIGN &amp; IoT</dc:title>
  <dc:creator>jeeva rajan</dc:creator>
  <cp:lastModifiedBy>PANTECH</cp:lastModifiedBy>
  <cp:revision>565</cp:revision>
  <dcterms:modified xsi:type="dcterms:W3CDTF">2021-07-21T13:20:20Z</dcterms:modified>
</cp:coreProperties>
</file>