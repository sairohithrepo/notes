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21"/>
  </p:notesMasterIdLst>
  <p:sldIdLst>
    <p:sldId id="256" r:id="rId2"/>
    <p:sldId id="501" r:id="rId3"/>
    <p:sldId id="506" r:id="rId4"/>
    <p:sldId id="507" r:id="rId5"/>
    <p:sldId id="508" r:id="rId6"/>
    <p:sldId id="509" r:id="rId7"/>
    <p:sldId id="510" r:id="rId8"/>
    <p:sldId id="544" r:id="rId9"/>
    <p:sldId id="511" r:id="rId10"/>
    <p:sldId id="512" r:id="rId11"/>
    <p:sldId id="513" r:id="rId12"/>
    <p:sldId id="514" r:id="rId13"/>
    <p:sldId id="540" r:id="rId14"/>
    <p:sldId id="541" r:id="rId15"/>
    <p:sldId id="515" r:id="rId16"/>
    <p:sldId id="542" r:id="rId17"/>
    <p:sldId id="543" r:id="rId18"/>
    <p:sldId id="518" r:id="rId19"/>
    <p:sldId id="348" r:id="rId20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2"/>
      <p:bold r:id="rId23"/>
      <p:italic r:id="rId24"/>
      <p:bold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  <p:embeddedFont>
      <p:font typeface="Nunito" panose="020B0604020202020204" charset="0"/>
      <p:regular r:id="rId30"/>
      <p:bold r:id="rId31"/>
      <p:italic r:id="rId32"/>
      <p:boldItalic r:id="rId33"/>
    </p:embeddedFont>
    <p:embeddedFont>
      <p:font typeface="Karla Regular" panose="020B0604020202020204" charset="0"/>
      <p:bold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7D1900-AC4F-4A15-BEC6-FC9A572E3F83}">
  <a:tblStyle styleId="{7C7D1900-AC4F-4A15-BEC6-FC9A572E3F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72" autoAdjust="0"/>
  </p:normalViewPr>
  <p:slideViewPr>
    <p:cSldViewPr snapToGrid="0">
      <p:cViewPr varScale="1">
        <p:scale>
          <a:sx n="110" d="100"/>
          <a:sy n="110" d="100"/>
        </p:scale>
        <p:origin x="658" y="6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3" name="Google Shape;2203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399960" y="826618"/>
            <a:ext cx="4287930" cy="3642388"/>
            <a:chOff x="4611450" y="3151300"/>
            <a:chExt cx="667725" cy="567200"/>
          </a:xfrm>
        </p:grpSpPr>
        <p:sp>
          <p:nvSpPr>
            <p:cNvPr id="10" name="Google Shape;10;p2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3080750" y="3610150"/>
            <a:ext cx="1591200" cy="47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5" name="Google Shape;25;p2"/>
          <p:cNvGrpSpPr/>
          <p:nvPr/>
        </p:nvGrpSpPr>
        <p:grpSpPr>
          <a:xfrm flipH="1">
            <a:off x="7641120" y="4577926"/>
            <a:ext cx="1051274" cy="787312"/>
            <a:chOff x="3585475" y="1537675"/>
            <a:chExt cx="649175" cy="486175"/>
          </a:xfrm>
        </p:grpSpPr>
        <p:sp>
          <p:nvSpPr>
            <p:cNvPr id="26" name="Google Shape;26;p2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/>
          <p:nvPr/>
        </p:nvSpPr>
        <p:spPr>
          <a:xfrm flipH="1">
            <a:off x="7937525" y="1510200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 flipH="1">
            <a:off x="8256002" y="1510202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384" name="Google Shape;1384;p26"/>
          <p:cNvGrpSpPr/>
          <p:nvPr/>
        </p:nvGrpSpPr>
        <p:grpSpPr>
          <a:xfrm>
            <a:off x="359957" y="-418499"/>
            <a:ext cx="1051274" cy="787312"/>
            <a:chOff x="3585475" y="1537675"/>
            <a:chExt cx="649175" cy="486175"/>
          </a:xfrm>
        </p:grpSpPr>
        <p:sp>
          <p:nvSpPr>
            <p:cNvPr id="1385" name="Google Shape;1385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5" name="Google Shape;1405;p26"/>
          <p:cNvGrpSpPr/>
          <p:nvPr/>
        </p:nvGrpSpPr>
        <p:grpSpPr>
          <a:xfrm>
            <a:off x="7633694" y="4775189"/>
            <a:ext cx="1051274" cy="787312"/>
            <a:chOff x="3585475" y="1537675"/>
            <a:chExt cx="649175" cy="486175"/>
          </a:xfrm>
        </p:grpSpPr>
        <p:sp>
          <p:nvSpPr>
            <p:cNvPr id="1406" name="Google Shape;1406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2_3_1">
    <p:bg>
      <p:bgPr>
        <a:solidFill>
          <a:schemeClr val="lt1"/>
        </a:solidFill>
        <a:effectLst/>
      </p:bgPr>
    </p:bg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35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p35"/>
          <p:cNvSpPr/>
          <p:nvPr/>
        </p:nvSpPr>
        <p:spPr>
          <a:xfrm rot="10800000">
            <a:off x="8367144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2" name="Google Shape;2022;p35"/>
          <p:cNvGrpSpPr/>
          <p:nvPr/>
        </p:nvGrpSpPr>
        <p:grpSpPr>
          <a:xfrm rot="10800000" flipH="1">
            <a:off x="359957" y="4770143"/>
            <a:ext cx="1051274" cy="787312"/>
            <a:chOff x="3585475" y="1537675"/>
            <a:chExt cx="649175" cy="486175"/>
          </a:xfrm>
        </p:grpSpPr>
        <p:sp>
          <p:nvSpPr>
            <p:cNvPr id="2023" name="Google Shape;2023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3" name="Google Shape;2043;p35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2044" name="Google Shape;2044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">
    <p:spTree>
      <p:nvGrpSpPr>
        <p:cNvPr id="1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5" name="Google Shape;2065;p36"/>
          <p:cNvGrpSpPr/>
          <p:nvPr/>
        </p:nvGrpSpPr>
        <p:grpSpPr>
          <a:xfrm>
            <a:off x="7230635" y="826618"/>
            <a:ext cx="4287930" cy="3642388"/>
            <a:chOff x="4611450" y="3151300"/>
            <a:chExt cx="667725" cy="567200"/>
          </a:xfrm>
        </p:grpSpPr>
        <p:sp>
          <p:nvSpPr>
            <p:cNvPr id="2066" name="Google Shape;2066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9" name="Google Shape;2079;p36"/>
          <p:cNvGrpSpPr/>
          <p:nvPr/>
        </p:nvGrpSpPr>
        <p:grpSpPr>
          <a:xfrm>
            <a:off x="-2374565" y="826618"/>
            <a:ext cx="4287930" cy="3642388"/>
            <a:chOff x="4611450" y="3151300"/>
            <a:chExt cx="667725" cy="567200"/>
          </a:xfrm>
        </p:grpSpPr>
        <p:sp>
          <p:nvSpPr>
            <p:cNvPr id="2080" name="Google Shape;2080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3" name="Google Shape;2093;p36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" name="Google Shape;2094;p36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5" name="Google Shape;2095;p36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6" name="Google Shape;2096;p36"/>
          <p:cNvGrpSpPr/>
          <p:nvPr/>
        </p:nvGrpSpPr>
        <p:grpSpPr>
          <a:xfrm>
            <a:off x="514482" y="518776"/>
            <a:ext cx="1051274" cy="787312"/>
            <a:chOff x="3585475" y="1537675"/>
            <a:chExt cx="649175" cy="486175"/>
          </a:xfrm>
        </p:grpSpPr>
        <p:sp>
          <p:nvSpPr>
            <p:cNvPr id="2097" name="Google Shape;2097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7" name="Google Shape;2117;p36"/>
          <p:cNvGrpSpPr/>
          <p:nvPr/>
        </p:nvGrpSpPr>
        <p:grpSpPr>
          <a:xfrm>
            <a:off x="7523332" y="3991726"/>
            <a:ext cx="1051274" cy="787312"/>
            <a:chOff x="3585475" y="1537675"/>
            <a:chExt cx="649175" cy="486175"/>
          </a:xfrm>
        </p:grpSpPr>
        <p:sp>
          <p:nvSpPr>
            <p:cNvPr id="2118" name="Google Shape;2118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9" name="Google Shape;2139;p37"/>
          <p:cNvGrpSpPr/>
          <p:nvPr/>
        </p:nvGrpSpPr>
        <p:grpSpPr>
          <a:xfrm>
            <a:off x="7799282" y="2074226"/>
            <a:ext cx="1051274" cy="787312"/>
            <a:chOff x="3585475" y="1537675"/>
            <a:chExt cx="649175" cy="486175"/>
          </a:xfrm>
        </p:grpSpPr>
        <p:sp>
          <p:nvSpPr>
            <p:cNvPr id="2140" name="Google Shape;2140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0" name="Google Shape;2160;p37"/>
          <p:cNvGrpSpPr/>
          <p:nvPr/>
        </p:nvGrpSpPr>
        <p:grpSpPr>
          <a:xfrm>
            <a:off x="293445" y="2074226"/>
            <a:ext cx="1051274" cy="787312"/>
            <a:chOff x="3585475" y="1537675"/>
            <a:chExt cx="649175" cy="486175"/>
          </a:xfrm>
        </p:grpSpPr>
        <p:sp>
          <p:nvSpPr>
            <p:cNvPr id="2161" name="Google Shape;2161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1" name="Google Shape;2181;p37"/>
          <p:cNvSpPr/>
          <p:nvPr/>
        </p:nvSpPr>
        <p:spPr>
          <a:xfrm>
            <a:off x="3227875" y="4385403"/>
            <a:ext cx="2688246" cy="2688296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2" name="Google Shape;2182;p37"/>
          <p:cNvGrpSpPr/>
          <p:nvPr/>
        </p:nvGrpSpPr>
        <p:grpSpPr>
          <a:xfrm>
            <a:off x="2399960" y="871118"/>
            <a:ext cx="4287930" cy="3642388"/>
            <a:chOff x="4611450" y="3151300"/>
            <a:chExt cx="667725" cy="567200"/>
          </a:xfrm>
        </p:grpSpPr>
        <p:sp>
          <p:nvSpPr>
            <p:cNvPr id="2183" name="Google Shape;2183;p3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6" name="Google Shape;2196;p37"/>
          <p:cNvSpPr/>
          <p:nvPr/>
        </p:nvSpPr>
        <p:spPr>
          <a:xfrm>
            <a:off x="3161643" y="-1861624"/>
            <a:ext cx="2820666" cy="282364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4953000" y="4629150"/>
            <a:ext cx="4343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www.pantechsolutions.net</a:t>
            </a:r>
          </a:p>
          <a:p>
            <a:pPr>
              <a:defRPr/>
            </a:pPr>
            <a:r>
              <a:rPr lang="en-US" dirty="0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095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2" r:id="rId3"/>
    <p:sldLayoutId id="2147483681" r:id="rId4"/>
    <p:sldLayoutId id="2147483682" r:id="rId5"/>
    <p:sldLayoutId id="2147483683" r:id="rId6"/>
    <p:sldLayoutId id="214748368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40"/>
          <p:cNvSpPr txBox="1">
            <a:spLocks noGrp="1"/>
          </p:cNvSpPr>
          <p:nvPr>
            <p:ph type="ctrTitle"/>
          </p:nvPr>
        </p:nvSpPr>
        <p:spPr>
          <a:xfrm>
            <a:off x="2255044" y="924773"/>
            <a:ext cx="6736302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smtClean="0"/>
              <a:t>Interfacing </a:t>
            </a:r>
            <a:r>
              <a:rPr lang="en-US" sz="3600" dirty="0" smtClean="0"/>
              <a:t>LCD </a:t>
            </a:r>
            <a:r>
              <a:rPr lang="en-US" sz="3600" dirty="0" smtClean="0"/>
              <a:t>with </a:t>
            </a:r>
            <a:br>
              <a:rPr lang="en-US" sz="3600" dirty="0" smtClean="0"/>
            </a:br>
            <a:r>
              <a:rPr lang="en-US" sz="3600" dirty="0" smtClean="0"/>
              <a:t>ARM7 LPC2148</a:t>
            </a:r>
            <a:endParaRPr sz="3600" dirty="0"/>
          </a:p>
        </p:txBody>
      </p:sp>
      <p:sp>
        <p:nvSpPr>
          <p:cNvPr id="2206" name="Google Shape;2206;p40"/>
          <p:cNvSpPr txBox="1">
            <a:spLocks noGrp="1"/>
          </p:cNvSpPr>
          <p:nvPr>
            <p:ph type="subTitle" idx="1"/>
          </p:nvPr>
        </p:nvSpPr>
        <p:spPr>
          <a:xfrm>
            <a:off x="3241963" y="3620121"/>
            <a:ext cx="5140037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sz="1600" dirty="0"/>
              <a:t>EMBEDDED SYSTEM </a:t>
            </a:r>
            <a:r>
              <a:rPr lang="en" sz="1600" dirty="0" smtClean="0"/>
              <a:t>DESIGN &amp; IoT-Master Class</a:t>
            </a:r>
            <a:endParaRPr sz="1600" dirty="0"/>
          </a:p>
        </p:txBody>
      </p:sp>
      <p:sp>
        <p:nvSpPr>
          <p:cNvPr id="2208" name="Google Shape;2208;p40"/>
          <p:cNvSpPr/>
          <p:nvPr/>
        </p:nvSpPr>
        <p:spPr>
          <a:xfrm flipH="1">
            <a:off x="-77280" y="4354934"/>
            <a:ext cx="2785365" cy="2785308"/>
          </a:xfrm>
          <a:custGeom>
            <a:avLst/>
            <a:gdLst/>
            <a:ahLst/>
            <a:cxnLst/>
            <a:rect l="l" t="t" r="r" b="b"/>
            <a:pathLst>
              <a:path w="48967" h="48966" extrusionOk="0">
                <a:moveTo>
                  <a:pt x="24484" y="0"/>
                </a:moveTo>
                <a:lnTo>
                  <a:pt x="23234" y="39"/>
                </a:lnTo>
                <a:lnTo>
                  <a:pt x="21985" y="117"/>
                </a:lnTo>
                <a:lnTo>
                  <a:pt x="20774" y="274"/>
                </a:lnTo>
                <a:lnTo>
                  <a:pt x="19564" y="508"/>
                </a:lnTo>
                <a:lnTo>
                  <a:pt x="18392" y="781"/>
                </a:lnTo>
                <a:lnTo>
                  <a:pt x="17221" y="1094"/>
                </a:lnTo>
                <a:lnTo>
                  <a:pt x="16088" y="1484"/>
                </a:lnTo>
                <a:lnTo>
                  <a:pt x="14956" y="1914"/>
                </a:lnTo>
                <a:lnTo>
                  <a:pt x="13902" y="2421"/>
                </a:lnTo>
                <a:lnTo>
                  <a:pt x="12848" y="2968"/>
                </a:lnTo>
                <a:lnTo>
                  <a:pt x="11793" y="3554"/>
                </a:lnTo>
                <a:lnTo>
                  <a:pt x="10817" y="4178"/>
                </a:lnTo>
                <a:lnTo>
                  <a:pt x="9841" y="4881"/>
                </a:lnTo>
                <a:lnTo>
                  <a:pt x="8943" y="5584"/>
                </a:lnTo>
                <a:lnTo>
                  <a:pt x="8045" y="6365"/>
                </a:lnTo>
                <a:lnTo>
                  <a:pt x="7186" y="7185"/>
                </a:lnTo>
                <a:lnTo>
                  <a:pt x="6366" y="8005"/>
                </a:lnTo>
                <a:lnTo>
                  <a:pt x="5624" y="8903"/>
                </a:lnTo>
                <a:lnTo>
                  <a:pt x="4882" y="9840"/>
                </a:lnTo>
                <a:lnTo>
                  <a:pt x="4179" y="10777"/>
                </a:lnTo>
                <a:lnTo>
                  <a:pt x="3554" y="11793"/>
                </a:lnTo>
                <a:lnTo>
                  <a:pt x="2968" y="12808"/>
                </a:lnTo>
                <a:lnTo>
                  <a:pt x="2422" y="13862"/>
                </a:lnTo>
                <a:lnTo>
                  <a:pt x="1953" y="14955"/>
                </a:lnTo>
                <a:lnTo>
                  <a:pt x="1485" y="16049"/>
                </a:lnTo>
                <a:lnTo>
                  <a:pt x="1133" y="17181"/>
                </a:lnTo>
                <a:lnTo>
                  <a:pt x="782" y="18353"/>
                </a:lnTo>
                <a:lnTo>
                  <a:pt x="508" y="19563"/>
                </a:lnTo>
                <a:lnTo>
                  <a:pt x="313" y="20734"/>
                </a:lnTo>
                <a:lnTo>
                  <a:pt x="157" y="21984"/>
                </a:lnTo>
                <a:lnTo>
                  <a:pt x="40" y="23234"/>
                </a:lnTo>
                <a:lnTo>
                  <a:pt x="1" y="24483"/>
                </a:lnTo>
                <a:lnTo>
                  <a:pt x="40" y="25733"/>
                </a:lnTo>
                <a:lnTo>
                  <a:pt x="157" y="26982"/>
                </a:lnTo>
                <a:lnTo>
                  <a:pt x="313" y="28193"/>
                </a:lnTo>
                <a:lnTo>
                  <a:pt x="508" y="29403"/>
                </a:lnTo>
                <a:lnTo>
                  <a:pt x="782" y="30613"/>
                </a:lnTo>
                <a:lnTo>
                  <a:pt x="1133" y="31746"/>
                </a:lnTo>
                <a:lnTo>
                  <a:pt x="1485" y="32917"/>
                </a:lnTo>
                <a:lnTo>
                  <a:pt x="1953" y="34011"/>
                </a:lnTo>
                <a:lnTo>
                  <a:pt x="2422" y="35104"/>
                </a:lnTo>
                <a:lnTo>
                  <a:pt x="2968" y="36158"/>
                </a:lnTo>
                <a:lnTo>
                  <a:pt x="3554" y="37173"/>
                </a:lnTo>
                <a:lnTo>
                  <a:pt x="4179" y="38150"/>
                </a:lnTo>
                <a:lnTo>
                  <a:pt x="4882" y="39126"/>
                </a:lnTo>
                <a:lnTo>
                  <a:pt x="5624" y="40063"/>
                </a:lnTo>
                <a:lnTo>
                  <a:pt x="6366" y="40922"/>
                </a:lnTo>
                <a:lnTo>
                  <a:pt x="7186" y="41781"/>
                </a:lnTo>
                <a:lnTo>
                  <a:pt x="8045" y="42601"/>
                </a:lnTo>
                <a:lnTo>
                  <a:pt x="8943" y="43382"/>
                </a:lnTo>
                <a:lnTo>
                  <a:pt x="9841" y="44085"/>
                </a:lnTo>
                <a:lnTo>
                  <a:pt x="10817" y="44788"/>
                </a:lnTo>
                <a:lnTo>
                  <a:pt x="11793" y="45412"/>
                </a:lnTo>
                <a:lnTo>
                  <a:pt x="12848" y="45998"/>
                </a:lnTo>
                <a:lnTo>
                  <a:pt x="13902" y="46545"/>
                </a:lnTo>
                <a:lnTo>
                  <a:pt x="14956" y="47052"/>
                </a:lnTo>
                <a:lnTo>
                  <a:pt x="16088" y="47482"/>
                </a:lnTo>
                <a:lnTo>
                  <a:pt x="17221" y="47872"/>
                </a:lnTo>
                <a:lnTo>
                  <a:pt x="18392" y="48185"/>
                </a:lnTo>
                <a:lnTo>
                  <a:pt x="19564" y="48458"/>
                </a:lnTo>
                <a:lnTo>
                  <a:pt x="20774" y="48692"/>
                </a:lnTo>
                <a:lnTo>
                  <a:pt x="21985" y="48849"/>
                </a:lnTo>
                <a:lnTo>
                  <a:pt x="23234" y="48927"/>
                </a:lnTo>
                <a:lnTo>
                  <a:pt x="24484" y="48966"/>
                </a:lnTo>
                <a:lnTo>
                  <a:pt x="25772" y="48927"/>
                </a:lnTo>
                <a:lnTo>
                  <a:pt x="26983" y="48849"/>
                </a:lnTo>
                <a:lnTo>
                  <a:pt x="28232" y="48692"/>
                </a:lnTo>
                <a:lnTo>
                  <a:pt x="29443" y="48458"/>
                </a:lnTo>
                <a:lnTo>
                  <a:pt x="30614" y="48185"/>
                </a:lnTo>
                <a:lnTo>
                  <a:pt x="31786" y="47872"/>
                </a:lnTo>
                <a:lnTo>
                  <a:pt x="32918" y="47482"/>
                </a:lnTo>
                <a:lnTo>
                  <a:pt x="34011" y="47052"/>
                </a:lnTo>
                <a:lnTo>
                  <a:pt x="35105" y="46545"/>
                </a:lnTo>
                <a:lnTo>
                  <a:pt x="36159" y="45998"/>
                </a:lnTo>
                <a:lnTo>
                  <a:pt x="37174" y="45412"/>
                </a:lnTo>
                <a:lnTo>
                  <a:pt x="38189" y="44788"/>
                </a:lnTo>
                <a:lnTo>
                  <a:pt x="39127" y="44085"/>
                </a:lnTo>
                <a:lnTo>
                  <a:pt x="40064" y="43382"/>
                </a:lnTo>
                <a:lnTo>
                  <a:pt x="40962" y="42601"/>
                </a:lnTo>
                <a:lnTo>
                  <a:pt x="41821" y="41781"/>
                </a:lnTo>
                <a:lnTo>
                  <a:pt x="42602" y="40922"/>
                </a:lnTo>
                <a:lnTo>
                  <a:pt x="43383" y="40063"/>
                </a:lnTo>
                <a:lnTo>
                  <a:pt x="44125" y="39126"/>
                </a:lnTo>
                <a:lnTo>
                  <a:pt x="44788" y="38150"/>
                </a:lnTo>
                <a:lnTo>
                  <a:pt x="45452" y="37173"/>
                </a:lnTo>
                <a:lnTo>
                  <a:pt x="46038" y="36158"/>
                </a:lnTo>
                <a:lnTo>
                  <a:pt x="46546" y="35104"/>
                </a:lnTo>
                <a:lnTo>
                  <a:pt x="47053" y="34011"/>
                </a:lnTo>
                <a:lnTo>
                  <a:pt x="47483" y="32917"/>
                </a:lnTo>
                <a:lnTo>
                  <a:pt x="47873" y="31746"/>
                </a:lnTo>
                <a:lnTo>
                  <a:pt x="48225" y="30613"/>
                </a:lnTo>
                <a:lnTo>
                  <a:pt x="48498" y="29403"/>
                </a:lnTo>
                <a:lnTo>
                  <a:pt x="48693" y="28193"/>
                </a:lnTo>
                <a:lnTo>
                  <a:pt x="48849" y="26982"/>
                </a:lnTo>
                <a:lnTo>
                  <a:pt x="48966" y="25733"/>
                </a:lnTo>
                <a:lnTo>
                  <a:pt x="48966" y="24483"/>
                </a:lnTo>
                <a:lnTo>
                  <a:pt x="48966" y="23234"/>
                </a:lnTo>
                <a:lnTo>
                  <a:pt x="48849" y="21984"/>
                </a:lnTo>
                <a:lnTo>
                  <a:pt x="48693" y="20734"/>
                </a:lnTo>
                <a:lnTo>
                  <a:pt x="48498" y="19563"/>
                </a:lnTo>
                <a:lnTo>
                  <a:pt x="48225" y="18353"/>
                </a:lnTo>
                <a:lnTo>
                  <a:pt x="47873" y="17181"/>
                </a:lnTo>
                <a:lnTo>
                  <a:pt x="47483" y="16049"/>
                </a:lnTo>
                <a:lnTo>
                  <a:pt x="47053" y="14955"/>
                </a:lnTo>
                <a:lnTo>
                  <a:pt x="46546" y="13862"/>
                </a:lnTo>
                <a:lnTo>
                  <a:pt x="46038" y="12808"/>
                </a:lnTo>
                <a:lnTo>
                  <a:pt x="45452" y="11793"/>
                </a:lnTo>
                <a:lnTo>
                  <a:pt x="44788" y="10777"/>
                </a:lnTo>
                <a:lnTo>
                  <a:pt x="44125" y="9840"/>
                </a:lnTo>
                <a:lnTo>
                  <a:pt x="43383" y="8903"/>
                </a:lnTo>
                <a:lnTo>
                  <a:pt x="42602" y="8005"/>
                </a:lnTo>
                <a:lnTo>
                  <a:pt x="41821" y="7185"/>
                </a:lnTo>
                <a:lnTo>
                  <a:pt x="40962" y="6365"/>
                </a:lnTo>
                <a:lnTo>
                  <a:pt x="40064" y="5584"/>
                </a:lnTo>
                <a:lnTo>
                  <a:pt x="39127" y="4881"/>
                </a:lnTo>
                <a:lnTo>
                  <a:pt x="38189" y="4178"/>
                </a:lnTo>
                <a:lnTo>
                  <a:pt x="37174" y="3554"/>
                </a:lnTo>
                <a:lnTo>
                  <a:pt x="36159" y="2968"/>
                </a:lnTo>
                <a:lnTo>
                  <a:pt x="35105" y="2421"/>
                </a:lnTo>
                <a:lnTo>
                  <a:pt x="34011" y="1914"/>
                </a:lnTo>
                <a:lnTo>
                  <a:pt x="32918" y="1484"/>
                </a:lnTo>
                <a:lnTo>
                  <a:pt x="31786" y="1094"/>
                </a:lnTo>
                <a:lnTo>
                  <a:pt x="30614" y="781"/>
                </a:lnTo>
                <a:lnTo>
                  <a:pt x="29443" y="508"/>
                </a:lnTo>
                <a:lnTo>
                  <a:pt x="28232" y="274"/>
                </a:lnTo>
                <a:lnTo>
                  <a:pt x="26983" y="117"/>
                </a:lnTo>
                <a:lnTo>
                  <a:pt x="25772" y="39"/>
                </a:lnTo>
                <a:lnTo>
                  <a:pt x="244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9" name="Google Shape;2209;p40"/>
          <p:cNvGrpSpPr/>
          <p:nvPr/>
        </p:nvGrpSpPr>
        <p:grpSpPr>
          <a:xfrm flipH="1">
            <a:off x="-352355" y="3454401"/>
            <a:ext cx="1051274" cy="787312"/>
            <a:chOff x="3585475" y="1537675"/>
            <a:chExt cx="649175" cy="486175"/>
          </a:xfrm>
        </p:grpSpPr>
        <p:sp>
          <p:nvSpPr>
            <p:cNvPr id="2210" name="Google Shape;2210;p40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0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0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0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0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0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0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0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0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0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0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0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0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0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0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0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0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0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0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0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0" name="Google Shape;2230;p40"/>
          <p:cNvGrpSpPr/>
          <p:nvPr/>
        </p:nvGrpSpPr>
        <p:grpSpPr>
          <a:xfrm flipH="1">
            <a:off x="197795" y="211850"/>
            <a:ext cx="656180" cy="633875"/>
            <a:chOff x="2556550" y="3309450"/>
            <a:chExt cx="545725" cy="527175"/>
          </a:xfrm>
        </p:grpSpPr>
        <p:sp>
          <p:nvSpPr>
            <p:cNvPr id="2231" name="Google Shape;2231;p40"/>
            <p:cNvSpPr/>
            <p:nvPr/>
          </p:nvSpPr>
          <p:spPr>
            <a:xfrm>
              <a:off x="2556550" y="3440250"/>
              <a:ext cx="396375" cy="396375"/>
            </a:xfrm>
            <a:custGeom>
              <a:avLst/>
              <a:gdLst/>
              <a:ahLst/>
              <a:cxnLst/>
              <a:rect l="l" t="t" r="r" b="b"/>
              <a:pathLst>
                <a:path w="15855" h="15855" extrusionOk="0">
                  <a:moveTo>
                    <a:pt x="1" y="1"/>
                  </a:moveTo>
                  <a:lnTo>
                    <a:pt x="1" y="15854"/>
                  </a:lnTo>
                  <a:lnTo>
                    <a:pt x="15854" y="15854"/>
                  </a:lnTo>
                  <a:lnTo>
                    <a:pt x="158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0"/>
            <p:cNvSpPr/>
            <p:nvPr/>
          </p:nvSpPr>
          <p:spPr>
            <a:xfrm>
              <a:off x="2704950" y="3309450"/>
              <a:ext cx="397325" cy="396350"/>
            </a:xfrm>
            <a:custGeom>
              <a:avLst/>
              <a:gdLst/>
              <a:ahLst/>
              <a:cxnLst/>
              <a:rect l="l" t="t" r="r" b="b"/>
              <a:pathLst>
                <a:path w="15893" h="15854" fill="none" extrusionOk="0">
                  <a:moveTo>
                    <a:pt x="15893" y="15854"/>
                  </a:moveTo>
                  <a:lnTo>
                    <a:pt x="0" y="15854"/>
                  </a:lnTo>
                  <a:lnTo>
                    <a:pt x="0" y="0"/>
                  </a:lnTo>
                  <a:lnTo>
                    <a:pt x="15893" y="0"/>
                  </a:lnTo>
                  <a:lnTo>
                    <a:pt x="15893" y="15854"/>
                  </a:lnTo>
                  <a:close/>
                </a:path>
              </a:pathLst>
            </a:custGeom>
            <a:noFill/>
            <a:ln w="1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3" name="Google Shape;2233;p40"/>
          <p:cNvSpPr/>
          <p:nvPr/>
        </p:nvSpPr>
        <p:spPr>
          <a:xfrm>
            <a:off x="7424746" y="369925"/>
            <a:ext cx="1719000" cy="47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solidFill>
                  <a:schemeClr val="accent4"/>
                </a:solidFill>
                <a:latin typeface="Montserrat" panose="00000500000000000000" pitchFamily="2" charset="0"/>
                <a:ea typeface="Karla Regular"/>
                <a:cs typeface="Karla Regular"/>
                <a:sym typeface="Karla Regular"/>
              </a:rPr>
              <a:t>         DAY </a:t>
            </a:r>
            <a:r>
              <a:rPr lang="en" sz="1800" b="1" dirty="0" smtClean="0">
                <a:solidFill>
                  <a:schemeClr val="accent4"/>
                </a:solidFill>
                <a:latin typeface="Montserrat" panose="00000500000000000000" pitchFamily="2" charset="0"/>
                <a:ea typeface="Karla Regular"/>
                <a:cs typeface="Karla Regular"/>
                <a:sym typeface="Karla Regular"/>
              </a:rPr>
              <a:t>14</a:t>
            </a:r>
            <a:endParaRPr sz="100" b="1" dirty="0">
              <a:latin typeface="Montserrat" panose="000005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19" y="1070028"/>
            <a:ext cx="1174118" cy="1102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600" b="1" dirty="0" smtClean="0">
                <a:solidFill>
                  <a:schemeClr val="tx2"/>
                </a:solidFill>
                <a:latin typeface="Fire sans extra"/>
              </a:rPr>
              <a:t>What You will learn Today?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11700" y="1242808"/>
            <a:ext cx="7924800" cy="23574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Introduction to LCD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Pin details and Descriptions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Schematics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chemeClr val="bg1"/>
                </a:solidFill>
              </a:rPr>
              <a:t>Program</a:t>
            </a:r>
            <a:endParaRPr lang="en-IN" sz="2000" b="1" dirty="0" smtClean="0">
              <a:solidFill>
                <a:schemeClr val="bg1"/>
              </a:solidFill>
            </a:endParaRPr>
          </a:p>
          <a:p>
            <a:endParaRPr lang="en-US" sz="2000" b="1" dirty="0" smtClean="0">
              <a:solidFill>
                <a:srgbClr val="00206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2000" b="1" dirty="0" smtClean="0">
              <a:solidFill>
                <a:srgbClr val="00206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endParaRPr lang="en-US" sz="2000" b="1" dirty="0" smtClean="0">
              <a:solidFill>
                <a:srgbClr val="00206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2000" dirty="0" smtClean="0">
              <a:solidFill>
                <a:srgbClr val="00206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499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73" y="214797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Mindset Lesson for the Day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28" y="1327050"/>
            <a:ext cx="8520600" cy="3416400"/>
          </a:xfrm>
        </p:spPr>
        <p:txBody>
          <a:bodyPr/>
          <a:lstStyle/>
          <a:p>
            <a:pPr marL="139700" indent="0">
              <a:buNone/>
            </a:pPr>
            <a:r>
              <a:rPr lang="en-US" sz="2000" b="1" dirty="0" smtClean="0"/>
              <a:t> See Good in People , People see good in you</a:t>
            </a:r>
            <a:endParaRPr 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www.pantechsolutions.net</a:t>
            </a:r>
          </a:p>
          <a:p>
            <a:pPr>
              <a:defRPr/>
            </a:pPr>
            <a:r>
              <a:rPr lang="en-US" dirty="0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39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400" y="373345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What is LCD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 liquid-crystal display (LCD) is a flat-panel display or other electronically modulated optical device that uses the light-modulating properties of liquid crystals combined with polarizers. Liquid crystals do not emit light directly,[1] instead using a backlight or reflector to produce images in color or monochrome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41" y="2228749"/>
            <a:ext cx="2857899" cy="14480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281" y="1981064"/>
            <a:ext cx="2372056" cy="169568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227" y="1838169"/>
            <a:ext cx="2819794" cy="183858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941" y="3790801"/>
            <a:ext cx="1819529" cy="106694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8360" y="3806736"/>
            <a:ext cx="1711913" cy="115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447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PIN Details of LCD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306" y="1212850"/>
            <a:ext cx="4824188" cy="3416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413" y="104993"/>
            <a:ext cx="3528574" cy="343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038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Schematic Diagram of LCD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92" y="1212850"/>
            <a:ext cx="2976054" cy="3416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894" y="1253892"/>
            <a:ext cx="5544324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376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075" y="67053"/>
            <a:ext cx="7723500" cy="4812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Character Display LCD</a:t>
            </a:r>
            <a:endParaRPr lang="en-IN" dirty="0">
              <a:solidFill>
                <a:schemeClr val="tx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9334" y="767687"/>
            <a:ext cx="3264496" cy="4595247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570018" y="1433945"/>
            <a:ext cx="152400" cy="24245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/>
          <p:cNvCxnSpPr>
            <a:stCxn id="5" idx="6"/>
          </p:cNvCxnSpPr>
          <p:nvPr/>
        </p:nvCxnSpPr>
        <p:spPr>
          <a:xfrm flipV="1">
            <a:off x="2722418" y="1555172"/>
            <a:ext cx="195349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786745" y="1371600"/>
            <a:ext cx="2272146" cy="3740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0011 0001  -X”31”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2570018" y="1676400"/>
            <a:ext cx="152400" cy="2563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2722418" y="1797626"/>
            <a:ext cx="195349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698441" y="1797626"/>
            <a:ext cx="2272146" cy="3740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0011 0010  -X”32”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245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COMMAND CODES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2267" y="1115287"/>
            <a:ext cx="3673722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46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Step 1-Initialize LCD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11700" y="1393355"/>
            <a:ext cx="12416714" cy="300273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761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Initialization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Wait for 15ms, Power-on initialization time for LCD16x2.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Send 0x02 command which initializes LCD 16x2 in 4-bit mode.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Send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0x38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command which configures LCD in 2-line,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8-bit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mode, and 5x8 dots.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Send any Display ON command (0x0E, 0x0C)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Send 0x06 command (increment cursor)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Menlo"/>
              </a:rPr>
              <a:t/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Menlo"/>
              </a:rPr>
            </a:b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2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Header files and Declarations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it-IT" dirty="0"/>
              <a:t>#include &lt;LPC214x.H&gt;</a:t>
            </a:r>
          </a:p>
          <a:p>
            <a:pPr marL="139700" indent="0">
              <a:buNone/>
            </a:pPr>
            <a:endParaRPr lang="it-IT" dirty="0"/>
          </a:p>
          <a:p>
            <a:pPr marL="139700" indent="0">
              <a:buNone/>
            </a:pPr>
            <a:r>
              <a:rPr lang="it-IT" dirty="0"/>
              <a:t>#define RS	0x0010000</a:t>
            </a:r>
          </a:p>
          <a:p>
            <a:pPr marL="139700" indent="0">
              <a:buNone/>
            </a:pPr>
            <a:r>
              <a:rPr lang="it-IT" dirty="0"/>
              <a:t>#define EN	0x0020000</a:t>
            </a:r>
          </a:p>
          <a:p>
            <a:pPr marL="139700" indent="0">
              <a:buNone/>
            </a:pPr>
            <a:endParaRPr lang="it-IT" dirty="0"/>
          </a:p>
          <a:p>
            <a:pPr marL="139700" indent="0">
              <a:buNone/>
            </a:pPr>
            <a:r>
              <a:rPr lang="it-IT" dirty="0"/>
              <a:t>#define D0	0x0040000</a:t>
            </a:r>
          </a:p>
          <a:p>
            <a:pPr marL="139700" indent="0">
              <a:buNone/>
            </a:pPr>
            <a:r>
              <a:rPr lang="it-IT" dirty="0"/>
              <a:t>#define D1	0x0080000</a:t>
            </a:r>
          </a:p>
          <a:p>
            <a:pPr marL="139700" indent="0">
              <a:buNone/>
            </a:pPr>
            <a:r>
              <a:rPr lang="it-IT" dirty="0"/>
              <a:t>#define D2	0x0100000</a:t>
            </a:r>
          </a:p>
          <a:p>
            <a:pPr marL="139700" indent="0">
              <a:buNone/>
            </a:pPr>
            <a:r>
              <a:rPr lang="it-IT" dirty="0"/>
              <a:t>#define D3	0x0200000</a:t>
            </a:r>
          </a:p>
          <a:p>
            <a:pPr marL="139700" indent="0">
              <a:buNone/>
            </a:pPr>
            <a:r>
              <a:rPr lang="it-IT" dirty="0"/>
              <a:t>#define D4	0x0400000</a:t>
            </a:r>
          </a:p>
          <a:p>
            <a:pPr marL="139700" indent="0">
              <a:buNone/>
            </a:pPr>
            <a:r>
              <a:rPr lang="it-IT" dirty="0"/>
              <a:t>#define D5	0x0800000</a:t>
            </a:r>
          </a:p>
          <a:p>
            <a:pPr marL="139700" indent="0">
              <a:buNone/>
            </a:pPr>
            <a:r>
              <a:rPr lang="it-IT" dirty="0"/>
              <a:t>#define D6	0x1000000</a:t>
            </a:r>
          </a:p>
          <a:p>
            <a:pPr marL="139700" indent="0">
              <a:buNone/>
            </a:pPr>
            <a:r>
              <a:rPr lang="it-IT" dirty="0"/>
              <a:t>#define D7	</a:t>
            </a:r>
            <a:r>
              <a:rPr lang="it-IT" dirty="0" smtClean="0"/>
              <a:t>0x2000000</a:t>
            </a:r>
          </a:p>
          <a:p>
            <a:pPr marL="139700" indent="0">
              <a:buNone/>
            </a:pPr>
            <a:endParaRPr lang="it-IT" dirty="0"/>
          </a:p>
          <a:p>
            <a:pPr marL="139700" indent="0">
              <a:buNone/>
            </a:pPr>
            <a:r>
              <a:rPr lang="en-IN" dirty="0"/>
              <a:t>char </a:t>
            </a:r>
            <a:r>
              <a:rPr lang="en-IN" dirty="0" err="1"/>
              <a:t>cmd</a:t>
            </a:r>
            <a:r>
              <a:rPr lang="en-IN" dirty="0"/>
              <a:t>[8] = {0x33,0x32,0x38,0x0C,0x06,0x01};				</a:t>
            </a:r>
          </a:p>
          <a:p>
            <a:pPr marL="139700" indent="0">
              <a:buNone/>
            </a:pPr>
            <a:r>
              <a:rPr lang="en-IN" dirty="0"/>
              <a:t>char </a:t>
            </a:r>
            <a:r>
              <a:rPr lang="en-IN" dirty="0" err="1"/>
              <a:t>msg</a:t>
            </a:r>
            <a:r>
              <a:rPr lang="en-IN" dirty="0"/>
              <a:t>[] = {" ARM7 TYRO VER4 "};						</a:t>
            </a:r>
          </a:p>
          <a:p>
            <a:pPr marL="139700" indent="0">
              <a:buNone/>
            </a:pPr>
            <a:r>
              <a:rPr lang="en-IN" dirty="0"/>
              <a:t>char msg1[]= {"  &gt; LCD DEMO &lt;  "};	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2315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LCD functions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IN" sz="1800" b="1" dirty="0"/>
              <a:t>void </a:t>
            </a:r>
            <a:r>
              <a:rPr lang="en-IN" sz="1800" b="1" dirty="0" err="1"/>
              <a:t>lcd_cmd</a:t>
            </a:r>
            <a:r>
              <a:rPr lang="en-IN" sz="1800" b="1" dirty="0"/>
              <a:t>  (char);</a:t>
            </a:r>
          </a:p>
          <a:p>
            <a:pPr marL="139700" indent="0">
              <a:buNone/>
            </a:pPr>
            <a:r>
              <a:rPr lang="en-IN" sz="1800" b="1" dirty="0"/>
              <a:t>void </a:t>
            </a:r>
            <a:r>
              <a:rPr lang="en-IN" sz="1800" b="1" dirty="0" err="1"/>
              <a:t>lcd_data</a:t>
            </a:r>
            <a:r>
              <a:rPr lang="en-IN" sz="1800" b="1" dirty="0"/>
              <a:t> (char);</a:t>
            </a:r>
          </a:p>
          <a:p>
            <a:pPr marL="139700" indent="0">
              <a:buNone/>
            </a:pPr>
            <a:r>
              <a:rPr lang="en-IN" sz="1800" b="1" dirty="0"/>
              <a:t>void </a:t>
            </a:r>
            <a:r>
              <a:rPr lang="en-IN" sz="1800" b="1" dirty="0" err="1"/>
              <a:t>lcd_Init</a:t>
            </a:r>
            <a:r>
              <a:rPr lang="en-IN" sz="1800" b="1" dirty="0"/>
              <a:t> (void);</a:t>
            </a:r>
          </a:p>
          <a:p>
            <a:pPr marL="139700" indent="0">
              <a:buNone/>
            </a:pPr>
            <a:r>
              <a:rPr lang="en-IN" sz="1800" b="1" dirty="0"/>
              <a:t>void </a:t>
            </a:r>
            <a:r>
              <a:rPr lang="en-IN" sz="1800" b="1" dirty="0" err="1"/>
              <a:t>lcd_display</a:t>
            </a:r>
            <a:r>
              <a:rPr lang="en-IN" sz="1800" b="1" dirty="0"/>
              <a:t> (void);</a:t>
            </a:r>
          </a:p>
          <a:p>
            <a:pPr marL="139700" indent="0">
              <a:buNone/>
            </a:pPr>
            <a:r>
              <a:rPr lang="en-IN" sz="1800" b="1" dirty="0"/>
              <a:t>void </a:t>
            </a:r>
            <a:r>
              <a:rPr lang="en-IN" sz="1800" b="1" dirty="0" err="1"/>
              <a:t>lcd_Convert</a:t>
            </a:r>
            <a:r>
              <a:rPr lang="en-IN" sz="1800" b="1" dirty="0"/>
              <a:t>(char);</a:t>
            </a:r>
          </a:p>
          <a:p>
            <a:pPr marL="139700" indent="0">
              <a:buNone/>
            </a:pPr>
            <a:r>
              <a:rPr lang="en-IN" sz="1800" b="1" dirty="0"/>
              <a:t>void delay(</a:t>
            </a:r>
            <a:r>
              <a:rPr lang="en-IN" sz="1800" b="1" dirty="0" err="1"/>
              <a:t>int</a:t>
            </a:r>
            <a:r>
              <a:rPr lang="en-IN" sz="1800" b="1" dirty="0"/>
              <a:t>);</a:t>
            </a:r>
            <a:endParaRPr lang="en-IN" sz="1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587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LCD Command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IN" b="1" dirty="0"/>
              <a:t>void </a:t>
            </a:r>
            <a:r>
              <a:rPr lang="en-IN" b="1" dirty="0" err="1"/>
              <a:t>lcd_cmd</a:t>
            </a:r>
            <a:r>
              <a:rPr lang="en-IN" b="1" dirty="0"/>
              <a:t>(char data)				</a:t>
            </a:r>
            <a:r>
              <a:rPr lang="en-IN" b="1" dirty="0" smtClean="0"/>
              <a:t>// </a:t>
            </a:r>
            <a:r>
              <a:rPr lang="en-IN" b="1" dirty="0"/>
              <a:t>LCD Command Mode</a:t>
            </a:r>
          </a:p>
          <a:p>
            <a:pPr marL="139700" indent="0">
              <a:buNone/>
            </a:pPr>
            <a:r>
              <a:rPr lang="en-IN" b="1" dirty="0"/>
              <a:t>{</a:t>
            </a:r>
          </a:p>
          <a:p>
            <a:pPr marL="139700" indent="0">
              <a:buNone/>
            </a:pPr>
            <a:r>
              <a:rPr lang="en-IN" b="1" dirty="0"/>
              <a:t>	IO1CLR	= RS;					</a:t>
            </a:r>
          </a:p>
          <a:p>
            <a:pPr marL="139700" indent="0">
              <a:buNone/>
            </a:pPr>
            <a:r>
              <a:rPr lang="en-IN" b="1" dirty="0"/>
              <a:t>	</a:t>
            </a:r>
            <a:r>
              <a:rPr lang="en-IN" b="1" dirty="0" err="1"/>
              <a:t>lcd_Convert</a:t>
            </a:r>
            <a:r>
              <a:rPr lang="en-IN" b="1" dirty="0"/>
              <a:t>(data);</a:t>
            </a:r>
          </a:p>
          <a:p>
            <a:pPr marL="139700" indent="0">
              <a:buNone/>
            </a:pPr>
            <a:r>
              <a:rPr lang="en-IN" b="1" dirty="0"/>
              <a:t>}</a:t>
            </a: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703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LCD </a:t>
            </a:r>
            <a:r>
              <a:rPr lang="en-US" dirty="0" smtClean="0">
                <a:solidFill>
                  <a:schemeClr val="tx2"/>
                </a:solidFill>
              </a:rPr>
              <a:t>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IN" b="1" dirty="0"/>
              <a:t>void </a:t>
            </a:r>
            <a:r>
              <a:rPr lang="en-IN" b="1" dirty="0" err="1"/>
              <a:t>lcd_data</a:t>
            </a:r>
            <a:r>
              <a:rPr lang="en-IN" b="1" dirty="0"/>
              <a:t> (char data)					// LCD Data Mode</a:t>
            </a:r>
          </a:p>
          <a:p>
            <a:pPr marL="139700" indent="0">
              <a:buNone/>
            </a:pPr>
            <a:r>
              <a:rPr lang="en-IN" b="1" dirty="0"/>
              <a:t>{</a:t>
            </a:r>
          </a:p>
          <a:p>
            <a:pPr marL="139700" indent="0">
              <a:buNone/>
            </a:pPr>
            <a:r>
              <a:rPr lang="en-IN" b="1" dirty="0"/>
              <a:t>	IOSET1	= RS;				</a:t>
            </a:r>
          </a:p>
          <a:p>
            <a:pPr marL="139700" indent="0">
              <a:buNone/>
            </a:pPr>
            <a:r>
              <a:rPr lang="en-IN" b="1" dirty="0"/>
              <a:t>	</a:t>
            </a:r>
            <a:r>
              <a:rPr lang="en-IN" b="1" dirty="0" err="1"/>
              <a:t>lcd_Convert</a:t>
            </a:r>
            <a:r>
              <a:rPr lang="en-IN" b="1" dirty="0"/>
              <a:t>(data);</a:t>
            </a:r>
          </a:p>
          <a:p>
            <a:pPr marL="139700" indent="0">
              <a:buNone/>
            </a:pPr>
            <a:r>
              <a:rPr lang="en-IN" b="1" dirty="0"/>
              <a:t>}</a:t>
            </a:r>
          </a:p>
          <a:p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281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Delay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IN" b="1" dirty="0"/>
              <a:t>void delay(</a:t>
            </a:r>
            <a:r>
              <a:rPr lang="en-IN" b="1" dirty="0" err="1"/>
              <a:t>int</a:t>
            </a:r>
            <a:r>
              <a:rPr lang="en-IN" b="1" dirty="0"/>
              <a:t> n)</a:t>
            </a:r>
          </a:p>
          <a:p>
            <a:pPr marL="139700" indent="0">
              <a:buNone/>
            </a:pPr>
            <a:r>
              <a:rPr lang="en-IN" b="1" dirty="0"/>
              <a:t>{</a:t>
            </a:r>
          </a:p>
          <a:p>
            <a:pPr marL="139700" indent="0">
              <a:buNone/>
            </a:pPr>
            <a:r>
              <a:rPr lang="en-IN" b="1" dirty="0"/>
              <a:t>	unsigned </a:t>
            </a:r>
            <a:r>
              <a:rPr lang="en-IN" b="1" dirty="0" err="1"/>
              <a:t>int</a:t>
            </a:r>
            <a:r>
              <a:rPr lang="en-IN" b="1" dirty="0"/>
              <a:t> </a:t>
            </a:r>
            <a:r>
              <a:rPr lang="en-IN" b="1" dirty="0" err="1"/>
              <a:t>i,j</a:t>
            </a:r>
            <a:r>
              <a:rPr lang="en-IN" b="1" dirty="0"/>
              <a:t>;</a:t>
            </a:r>
          </a:p>
          <a:p>
            <a:pPr marL="139700" indent="0">
              <a:buNone/>
            </a:pPr>
            <a:r>
              <a:rPr lang="en-IN" b="1" dirty="0"/>
              <a:t>	for(</a:t>
            </a:r>
            <a:r>
              <a:rPr lang="en-IN" b="1" dirty="0" err="1"/>
              <a:t>i</a:t>
            </a:r>
            <a:r>
              <a:rPr lang="en-IN" b="1" dirty="0"/>
              <a:t>=0;i&lt;</a:t>
            </a:r>
            <a:r>
              <a:rPr lang="en-IN" b="1" dirty="0" err="1"/>
              <a:t>n;i</a:t>
            </a:r>
            <a:r>
              <a:rPr lang="en-IN" b="1" dirty="0"/>
              <a:t>++)</a:t>
            </a:r>
          </a:p>
          <a:p>
            <a:pPr marL="139700" indent="0">
              <a:buNone/>
            </a:pPr>
            <a:r>
              <a:rPr lang="en-IN" b="1" dirty="0"/>
              <a:t>	{</a:t>
            </a:r>
          </a:p>
          <a:p>
            <a:pPr marL="139700" indent="0">
              <a:buNone/>
            </a:pPr>
            <a:r>
              <a:rPr lang="en-IN" b="1" dirty="0"/>
              <a:t>		for(j=0;j&lt;12000;j++)</a:t>
            </a:r>
          </a:p>
          <a:p>
            <a:pPr marL="139700" indent="0">
              <a:buNone/>
            </a:pPr>
            <a:r>
              <a:rPr lang="en-IN" b="1" dirty="0"/>
              <a:t>		{;}</a:t>
            </a:r>
          </a:p>
          <a:p>
            <a:pPr marL="139700" indent="0">
              <a:buNone/>
            </a:pPr>
            <a:r>
              <a:rPr lang="en-IN" b="1" dirty="0"/>
              <a:t>	}</a:t>
            </a:r>
          </a:p>
          <a:p>
            <a:pPr marL="139700" indent="0">
              <a:buNone/>
            </a:pPr>
            <a:r>
              <a:rPr lang="en-IN" b="1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274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737" y="91734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LCD DISPLAY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482" y="743766"/>
            <a:ext cx="8520600" cy="3416400"/>
          </a:xfrm>
        </p:spPr>
        <p:txBody>
          <a:bodyPr/>
          <a:lstStyle/>
          <a:p>
            <a:pPr marL="139700" indent="0">
              <a:buNone/>
            </a:pPr>
            <a:r>
              <a:rPr lang="en-IN" b="1" dirty="0"/>
              <a:t>void </a:t>
            </a:r>
            <a:r>
              <a:rPr lang="en-IN" b="1" dirty="0" err="1"/>
              <a:t>lcd_display</a:t>
            </a:r>
            <a:r>
              <a:rPr lang="en-IN" b="1" dirty="0"/>
              <a:t> (void)</a:t>
            </a:r>
          </a:p>
          <a:p>
            <a:pPr marL="139700" indent="0">
              <a:buNone/>
            </a:pPr>
            <a:r>
              <a:rPr lang="en-IN" b="1" dirty="0"/>
              <a:t>{</a:t>
            </a:r>
          </a:p>
          <a:p>
            <a:pPr marL="139700" indent="0">
              <a:buNone/>
            </a:pPr>
            <a:r>
              <a:rPr lang="en-IN" b="1" dirty="0"/>
              <a:t>	unsigned </a:t>
            </a:r>
            <a:r>
              <a:rPr lang="en-IN" b="1" dirty="0" err="1"/>
              <a:t>int</a:t>
            </a:r>
            <a:r>
              <a:rPr lang="en-IN" b="1" dirty="0"/>
              <a:t> </a:t>
            </a:r>
            <a:r>
              <a:rPr lang="en-IN" b="1" dirty="0" err="1"/>
              <a:t>i</a:t>
            </a:r>
            <a:r>
              <a:rPr lang="en-IN" b="1" dirty="0"/>
              <a:t>;</a:t>
            </a:r>
          </a:p>
          <a:p>
            <a:pPr marL="139700" indent="0">
              <a:buNone/>
            </a:pPr>
            <a:r>
              <a:rPr lang="en-IN" b="1" dirty="0"/>
              <a:t>	</a:t>
            </a:r>
            <a:r>
              <a:rPr lang="en-IN" b="1" dirty="0" err="1" smtClean="0"/>
              <a:t>lcd_cmd</a:t>
            </a:r>
            <a:r>
              <a:rPr lang="en-IN" b="1" dirty="0" smtClean="0"/>
              <a:t>(0x80</a:t>
            </a:r>
            <a:r>
              <a:rPr lang="en-IN" b="1" dirty="0"/>
              <a:t>);			delay(10); 					// Display First Line</a:t>
            </a:r>
          </a:p>
          <a:p>
            <a:pPr marL="139700" indent="0">
              <a:buNone/>
            </a:pPr>
            <a:r>
              <a:rPr lang="en-IN" b="1" dirty="0"/>
              <a:t>	for(</a:t>
            </a:r>
            <a:r>
              <a:rPr lang="en-IN" b="1" dirty="0" err="1"/>
              <a:t>i</a:t>
            </a:r>
            <a:r>
              <a:rPr lang="en-IN" b="1" dirty="0"/>
              <a:t>=0;msg[</a:t>
            </a:r>
            <a:r>
              <a:rPr lang="en-IN" b="1" dirty="0" err="1"/>
              <a:t>i</a:t>
            </a:r>
            <a:r>
              <a:rPr lang="en-IN" b="1" dirty="0"/>
              <a:t>]!='\0';i++)</a:t>
            </a:r>
          </a:p>
          <a:p>
            <a:pPr marL="139700" indent="0">
              <a:buNone/>
            </a:pPr>
            <a:r>
              <a:rPr lang="en-IN" b="1" dirty="0"/>
              <a:t>	{</a:t>
            </a:r>
          </a:p>
          <a:p>
            <a:pPr marL="139700" indent="0">
              <a:buNone/>
            </a:pPr>
            <a:r>
              <a:rPr lang="en-IN" b="1" dirty="0" smtClean="0"/>
              <a:t>  	</a:t>
            </a:r>
            <a:r>
              <a:rPr lang="en-IN" b="1" dirty="0"/>
              <a:t>	</a:t>
            </a:r>
            <a:r>
              <a:rPr lang="en-IN" b="1" dirty="0" err="1"/>
              <a:t>lcd_data</a:t>
            </a:r>
            <a:r>
              <a:rPr lang="en-IN" b="1" dirty="0"/>
              <a:t>(</a:t>
            </a:r>
            <a:r>
              <a:rPr lang="en-IN" b="1" dirty="0" err="1"/>
              <a:t>msg</a:t>
            </a:r>
            <a:r>
              <a:rPr lang="en-IN" b="1" dirty="0"/>
              <a:t>[</a:t>
            </a:r>
            <a:r>
              <a:rPr lang="en-IN" b="1" dirty="0" err="1"/>
              <a:t>i</a:t>
            </a:r>
            <a:r>
              <a:rPr lang="en-IN" b="1" dirty="0"/>
              <a:t>]);	</a:t>
            </a:r>
            <a:r>
              <a:rPr lang="en-IN" b="1" dirty="0" smtClean="0"/>
              <a:t>                  delay(40</a:t>
            </a:r>
            <a:r>
              <a:rPr lang="en-IN" b="1" dirty="0"/>
              <a:t>);</a:t>
            </a:r>
          </a:p>
          <a:p>
            <a:pPr marL="139700" indent="0">
              <a:buNone/>
            </a:pPr>
            <a:r>
              <a:rPr lang="en-IN" b="1" dirty="0"/>
              <a:t>	}</a:t>
            </a:r>
          </a:p>
          <a:p>
            <a:pPr marL="139700" indent="0">
              <a:buNone/>
            </a:pPr>
            <a:endParaRPr lang="en-IN" b="1" dirty="0"/>
          </a:p>
          <a:p>
            <a:pPr marL="139700" indent="0">
              <a:buNone/>
            </a:pPr>
            <a:r>
              <a:rPr lang="en-IN" b="1" dirty="0"/>
              <a:t>	</a:t>
            </a:r>
            <a:r>
              <a:rPr lang="en-IN" b="1" dirty="0" err="1"/>
              <a:t>lcd_cmd</a:t>
            </a:r>
            <a:r>
              <a:rPr lang="en-IN" b="1" dirty="0"/>
              <a:t>(0xC0);			delay(10); 					// Display Second Line</a:t>
            </a:r>
          </a:p>
          <a:p>
            <a:pPr marL="139700" indent="0">
              <a:buNone/>
            </a:pPr>
            <a:r>
              <a:rPr lang="en-IN" b="1" dirty="0"/>
              <a:t>	for(</a:t>
            </a:r>
            <a:r>
              <a:rPr lang="en-IN" b="1" dirty="0" err="1"/>
              <a:t>i</a:t>
            </a:r>
            <a:r>
              <a:rPr lang="en-IN" b="1" dirty="0"/>
              <a:t>=0;msg1[</a:t>
            </a:r>
            <a:r>
              <a:rPr lang="en-IN" b="1" dirty="0" err="1"/>
              <a:t>i</a:t>
            </a:r>
            <a:r>
              <a:rPr lang="en-IN" b="1" dirty="0"/>
              <a:t>]!='\0';i++)</a:t>
            </a:r>
          </a:p>
          <a:p>
            <a:pPr marL="139700" indent="0">
              <a:buNone/>
            </a:pPr>
            <a:r>
              <a:rPr lang="en-IN" b="1" dirty="0"/>
              <a:t>	{</a:t>
            </a:r>
          </a:p>
          <a:p>
            <a:pPr marL="139700" indent="0">
              <a:buNone/>
            </a:pPr>
            <a:r>
              <a:rPr lang="en-IN" b="1" dirty="0"/>
              <a:t>	</a:t>
            </a:r>
            <a:r>
              <a:rPr lang="en-IN" b="1" dirty="0" smtClean="0"/>
              <a:t>	</a:t>
            </a:r>
            <a:r>
              <a:rPr lang="en-IN" b="1" dirty="0" err="1" smtClean="0"/>
              <a:t>lcd_data</a:t>
            </a:r>
            <a:r>
              <a:rPr lang="en-IN" b="1" dirty="0" smtClean="0"/>
              <a:t>(msg1[</a:t>
            </a:r>
            <a:r>
              <a:rPr lang="en-IN" b="1" dirty="0" err="1" smtClean="0"/>
              <a:t>i</a:t>
            </a:r>
            <a:r>
              <a:rPr lang="en-IN" b="1" dirty="0"/>
              <a:t>]);		delay(40); </a:t>
            </a:r>
          </a:p>
          <a:p>
            <a:pPr marL="139700" indent="0">
              <a:buNone/>
            </a:pPr>
            <a:r>
              <a:rPr lang="en-IN" b="1" dirty="0"/>
              <a:t>	}</a:t>
            </a:r>
          </a:p>
          <a:p>
            <a:pPr marL="139700" indent="0">
              <a:buNone/>
            </a:pPr>
            <a:r>
              <a:rPr lang="en-IN" b="1" dirty="0"/>
              <a:t>}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10147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LCD </a:t>
            </a:r>
            <a:r>
              <a:rPr lang="en-US" dirty="0" smtClean="0">
                <a:solidFill>
                  <a:schemeClr val="tx2"/>
                </a:solidFill>
              </a:rPr>
              <a:t>CONVERT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IN" b="1" dirty="0"/>
              <a:t>void </a:t>
            </a:r>
            <a:r>
              <a:rPr lang="en-IN" b="1" dirty="0" err="1"/>
              <a:t>lcd_Convert</a:t>
            </a:r>
            <a:r>
              <a:rPr lang="en-IN" b="1" dirty="0"/>
              <a:t>(char c)</a:t>
            </a:r>
          </a:p>
          <a:p>
            <a:pPr marL="139700" indent="0">
              <a:buNone/>
            </a:pPr>
            <a:r>
              <a:rPr lang="en-IN" b="1" dirty="0"/>
              <a:t>{</a:t>
            </a:r>
          </a:p>
          <a:p>
            <a:pPr marL="139700" indent="0">
              <a:buNone/>
            </a:pPr>
            <a:r>
              <a:rPr lang="en-IN" b="1" dirty="0"/>
              <a:t>	if(c &amp; 0x80) IOSET1 = D7; else IOCLR1 = D7;	</a:t>
            </a:r>
          </a:p>
          <a:p>
            <a:pPr marL="139700" indent="0">
              <a:buNone/>
            </a:pPr>
            <a:r>
              <a:rPr lang="en-IN" b="1" dirty="0"/>
              <a:t>	if(c &amp; 0x40) IOSET1 = D6; else IOCLR1 = D6;</a:t>
            </a:r>
          </a:p>
          <a:p>
            <a:pPr marL="139700" indent="0">
              <a:buNone/>
            </a:pPr>
            <a:r>
              <a:rPr lang="en-IN" b="1" dirty="0"/>
              <a:t>	if(c &amp; 0x20) IOSET1 = D5; else IOCLR1 = D5;</a:t>
            </a:r>
          </a:p>
          <a:p>
            <a:pPr marL="139700" indent="0">
              <a:buNone/>
            </a:pPr>
            <a:r>
              <a:rPr lang="en-IN" b="1" dirty="0"/>
              <a:t>	if(c &amp; 0x10) IOSET1 = D4; else IOCLR1 = D4;						</a:t>
            </a:r>
          </a:p>
          <a:p>
            <a:pPr marL="139700" indent="0">
              <a:buNone/>
            </a:pPr>
            <a:r>
              <a:rPr lang="en-IN" b="1" dirty="0"/>
              <a:t>	if(c &amp; 0x08) IOSET1 = D3; else IOCLR1 = D3;</a:t>
            </a:r>
          </a:p>
          <a:p>
            <a:pPr marL="139700" indent="0">
              <a:buNone/>
            </a:pPr>
            <a:r>
              <a:rPr lang="en-IN" b="1" dirty="0"/>
              <a:t>	if(c &amp; 0x04) IOSET1 = D2; else IOCLR1 = D2;</a:t>
            </a:r>
          </a:p>
          <a:p>
            <a:pPr marL="139700" indent="0">
              <a:buNone/>
            </a:pPr>
            <a:r>
              <a:rPr lang="en-IN" b="1" dirty="0"/>
              <a:t>	if(c &amp; 0x02) IOSET1 = D1; else IOCLR1 = D1;</a:t>
            </a:r>
          </a:p>
          <a:p>
            <a:pPr marL="139700" indent="0">
              <a:buNone/>
            </a:pPr>
            <a:r>
              <a:rPr lang="en-IN" b="1" dirty="0"/>
              <a:t>	if(c &amp; 0x01) IOSET1 = D0; else IOCLR1 = D0;</a:t>
            </a:r>
          </a:p>
          <a:p>
            <a:pPr marL="139700" indent="0">
              <a:buNone/>
            </a:pPr>
            <a:endParaRPr lang="en-IN" b="1" dirty="0"/>
          </a:p>
          <a:p>
            <a:pPr marL="139700" indent="0">
              <a:buNone/>
            </a:pPr>
            <a:r>
              <a:rPr lang="en-IN" b="1" dirty="0"/>
              <a:t>	IOSET1	= EN;		</a:t>
            </a:r>
            <a:endParaRPr lang="en-IN" b="1" dirty="0" smtClean="0"/>
          </a:p>
          <a:p>
            <a:pPr marL="139700" indent="0">
              <a:buNone/>
            </a:pPr>
            <a:r>
              <a:rPr lang="en-IN" b="1" dirty="0"/>
              <a:t>	delay(5);			</a:t>
            </a:r>
            <a:endParaRPr lang="en-IN" b="1" dirty="0" smtClean="0"/>
          </a:p>
          <a:p>
            <a:pPr marL="139700" indent="0">
              <a:buNone/>
            </a:pPr>
            <a:r>
              <a:rPr lang="en-IN" b="1" dirty="0"/>
              <a:t> </a:t>
            </a:r>
            <a:r>
              <a:rPr lang="en-IN" b="1" dirty="0" smtClean="0"/>
              <a:t>                IOCLR1</a:t>
            </a:r>
            <a:r>
              <a:rPr lang="en-IN" b="1" dirty="0"/>
              <a:t>	= EN;		 																			</a:t>
            </a:r>
          </a:p>
          <a:p>
            <a:pPr marL="139700" indent="0">
              <a:buNone/>
            </a:pPr>
            <a:r>
              <a:rPr lang="en-IN" b="1" dirty="0"/>
              <a:t>}</a:t>
            </a:r>
          </a:p>
          <a:p>
            <a:pPr marL="13970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1753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LCD INIT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IN" b="1" dirty="0"/>
              <a:t>void </a:t>
            </a:r>
            <a:r>
              <a:rPr lang="en-IN" b="1" dirty="0" err="1"/>
              <a:t>lcd_Init</a:t>
            </a:r>
            <a:r>
              <a:rPr lang="en-IN" b="1" dirty="0"/>
              <a:t>(void)					// LCD Initialize</a:t>
            </a:r>
          </a:p>
          <a:p>
            <a:pPr marL="139700" indent="0">
              <a:buNone/>
            </a:pPr>
            <a:r>
              <a:rPr lang="en-IN" b="1" dirty="0"/>
              <a:t>{</a:t>
            </a:r>
          </a:p>
          <a:p>
            <a:pPr marL="139700" indent="0">
              <a:buNone/>
            </a:pPr>
            <a:r>
              <a:rPr lang="en-IN" b="1" dirty="0"/>
              <a:t>	unsigned </a:t>
            </a:r>
            <a:r>
              <a:rPr lang="en-IN" b="1" dirty="0" err="1"/>
              <a:t>int</a:t>
            </a:r>
            <a:r>
              <a:rPr lang="en-IN" b="1" dirty="0"/>
              <a:t> </a:t>
            </a:r>
            <a:r>
              <a:rPr lang="en-IN" b="1" dirty="0" err="1"/>
              <a:t>i</a:t>
            </a:r>
            <a:r>
              <a:rPr lang="en-IN" b="1" dirty="0"/>
              <a:t>;</a:t>
            </a:r>
          </a:p>
          <a:p>
            <a:pPr marL="139700" indent="0">
              <a:buNone/>
            </a:pPr>
            <a:r>
              <a:rPr lang="en-IN" b="1" dirty="0"/>
              <a:t>	for(</a:t>
            </a:r>
            <a:r>
              <a:rPr lang="en-IN" b="1" dirty="0" err="1"/>
              <a:t>i</a:t>
            </a:r>
            <a:r>
              <a:rPr lang="en-IN" b="1" dirty="0"/>
              <a:t>=0;i&lt;6;i++)</a:t>
            </a:r>
          </a:p>
          <a:p>
            <a:pPr marL="139700" indent="0">
              <a:buNone/>
            </a:pPr>
            <a:r>
              <a:rPr lang="en-IN" b="1" dirty="0"/>
              <a:t>	{	</a:t>
            </a:r>
          </a:p>
          <a:p>
            <a:pPr marL="139700" indent="0">
              <a:buNone/>
            </a:pPr>
            <a:r>
              <a:rPr lang="en-IN" b="1" dirty="0"/>
              <a:t>		</a:t>
            </a:r>
            <a:r>
              <a:rPr lang="en-IN" b="1" dirty="0" err="1"/>
              <a:t>lcd_cmd</a:t>
            </a:r>
            <a:r>
              <a:rPr lang="en-IN" b="1" dirty="0"/>
              <a:t>(</a:t>
            </a:r>
            <a:r>
              <a:rPr lang="en-IN" b="1" dirty="0" err="1"/>
              <a:t>cmd</a:t>
            </a:r>
            <a:r>
              <a:rPr lang="en-IN" b="1" dirty="0"/>
              <a:t>[</a:t>
            </a:r>
            <a:r>
              <a:rPr lang="en-IN" b="1" dirty="0" err="1"/>
              <a:t>i</a:t>
            </a:r>
            <a:r>
              <a:rPr lang="en-IN" b="1" dirty="0"/>
              <a:t>]);</a:t>
            </a:r>
          </a:p>
          <a:p>
            <a:pPr marL="139700" indent="0">
              <a:buNone/>
            </a:pPr>
            <a:r>
              <a:rPr lang="en-IN" b="1" dirty="0"/>
              <a:t>		delay(10); </a:t>
            </a:r>
          </a:p>
          <a:p>
            <a:pPr marL="139700" indent="0">
              <a:buNone/>
            </a:pPr>
            <a:r>
              <a:rPr lang="en-IN" b="1" dirty="0"/>
              <a:t>	}</a:t>
            </a:r>
          </a:p>
          <a:p>
            <a:pPr marL="139700" indent="0">
              <a:buNone/>
            </a:pPr>
            <a:r>
              <a:rPr lang="en-IN" b="1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54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Main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IN" b="1" dirty="0" err="1"/>
              <a:t>int</a:t>
            </a:r>
            <a:r>
              <a:rPr lang="en-IN" b="1" dirty="0"/>
              <a:t>  main(void)</a:t>
            </a:r>
          </a:p>
          <a:p>
            <a:pPr marL="139700" indent="0">
              <a:buNone/>
            </a:pPr>
            <a:r>
              <a:rPr lang="en-IN" b="1" dirty="0"/>
              <a:t>{</a:t>
            </a:r>
          </a:p>
          <a:p>
            <a:pPr marL="139700" indent="0">
              <a:buNone/>
            </a:pPr>
            <a:r>
              <a:rPr lang="en-IN" b="1" dirty="0"/>
              <a:t>	IO1DIR	=	0x3FF0000;		</a:t>
            </a:r>
          </a:p>
          <a:p>
            <a:pPr marL="139700" indent="0">
              <a:buNone/>
            </a:pPr>
            <a:r>
              <a:rPr lang="en-IN" b="1" dirty="0"/>
              <a:t>	</a:t>
            </a:r>
            <a:r>
              <a:rPr lang="en-IN" b="1" dirty="0" err="1"/>
              <a:t>lcd_Init</a:t>
            </a:r>
            <a:r>
              <a:rPr lang="en-IN" b="1" dirty="0"/>
              <a:t>();							</a:t>
            </a:r>
          </a:p>
          <a:p>
            <a:pPr marL="139700" indent="0">
              <a:buNone/>
            </a:pPr>
            <a:r>
              <a:rPr lang="en-IN" b="1" dirty="0"/>
              <a:t>							</a:t>
            </a:r>
          </a:p>
          <a:p>
            <a:pPr marL="139700" indent="0">
              <a:buNone/>
            </a:pPr>
            <a:r>
              <a:rPr lang="en-IN" b="1" dirty="0"/>
              <a:t>	while(1)</a:t>
            </a:r>
          </a:p>
          <a:p>
            <a:pPr marL="139700" indent="0">
              <a:buNone/>
            </a:pPr>
            <a:r>
              <a:rPr lang="en-IN" b="1" dirty="0"/>
              <a:t>	{</a:t>
            </a:r>
          </a:p>
          <a:p>
            <a:pPr marL="139700" indent="0">
              <a:buNone/>
            </a:pPr>
            <a:r>
              <a:rPr lang="en-IN" b="1" dirty="0"/>
              <a:t>		</a:t>
            </a:r>
            <a:r>
              <a:rPr lang="en-IN" b="1" dirty="0" err="1"/>
              <a:t>lcd_cmd</a:t>
            </a:r>
            <a:r>
              <a:rPr lang="en-IN" b="1" dirty="0"/>
              <a:t>(0x01);</a:t>
            </a:r>
          </a:p>
          <a:p>
            <a:pPr marL="139700" indent="0">
              <a:buNone/>
            </a:pPr>
            <a:r>
              <a:rPr lang="en-IN" b="1" dirty="0"/>
              <a:t>		</a:t>
            </a:r>
            <a:r>
              <a:rPr lang="en-IN" b="1" dirty="0" err="1"/>
              <a:t>lcd_display</a:t>
            </a:r>
            <a:r>
              <a:rPr lang="en-IN" b="1" dirty="0"/>
              <a:t>();</a:t>
            </a:r>
          </a:p>
          <a:p>
            <a:pPr marL="139700" indent="0">
              <a:buNone/>
            </a:pPr>
            <a:r>
              <a:rPr lang="en-IN" b="1" dirty="0"/>
              <a:t>		delay(300);</a:t>
            </a:r>
          </a:p>
          <a:p>
            <a:pPr marL="139700" indent="0">
              <a:buNone/>
            </a:pPr>
            <a:r>
              <a:rPr lang="en-IN" b="1" dirty="0"/>
              <a:t>	}</a:t>
            </a:r>
          </a:p>
          <a:p>
            <a:pPr marL="139700" indent="0">
              <a:buNone/>
            </a:pPr>
            <a:r>
              <a:rPr lang="en-IN" b="1" dirty="0"/>
              <a:t>}</a:t>
            </a:r>
          </a:p>
          <a:p>
            <a:pPr marL="13970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5561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849" y="2013573"/>
            <a:ext cx="7704000" cy="572700"/>
          </a:xfrm>
        </p:spPr>
        <p:txBody>
          <a:bodyPr/>
          <a:lstStyle/>
          <a:p>
            <a:r>
              <a:rPr lang="en-US" sz="7200" dirty="0" smtClean="0">
                <a:solidFill>
                  <a:schemeClr val="tx2"/>
                </a:solidFill>
              </a:rPr>
              <a:t>Thank You</a:t>
            </a:r>
            <a:endParaRPr lang="en-IN" sz="7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21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thematics Subject for Middle School - 6th Grade: Algebra by Slidesgo">
  <a:themeElements>
    <a:clrScheme name="Simple Light">
      <a:dk1>
        <a:srgbClr val="191919"/>
      </a:dk1>
      <a:lt1>
        <a:srgbClr val="07246E"/>
      </a:lt1>
      <a:dk2>
        <a:srgbClr val="0F327F"/>
      </a:dk2>
      <a:lt2>
        <a:srgbClr val="FF3141"/>
      </a:lt2>
      <a:accent1>
        <a:srgbClr val="FFB400"/>
      </a:accent1>
      <a:accent2>
        <a:srgbClr val="00B6FF"/>
      </a:accent2>
      <a:accent3>
        <a:srgbClr val="EDEDE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5331</TotalTime>
  <Words>275</Words>
  <Application>Microsoft Office PowerPoint</Application>
  <PresentationFormat>On-screen Show (16:9)</PresentationFormat>
  <Paragraphs>151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Montserrat</vt:lpstr>
      <vt:lpstr>Menlo</vt:lpstr>
      <vt:lpstr>Roboto</vt:lpstr>
      <vt:lpstr>Arial</vt:lpstr>
      <vt:lpstr>Fire sans extra</vt:lpstr>
      <vt:lpstr>Nunito</vt:lpstr>
      <vt:lpstr>Wingdings</vt:lpstr>
      <vt:lpstr>Karla Regular</vt:lpstr>
      <vt:lpstr>Mathematics Subject for Middle School - 6th Grade: Algebra by Slidesgo</vt:lpstr>
      <vt:lpstr>Interfacing LCD with  ARM7 LPC2148</vt:lpstr>
      <vt:lpstr>PowerPoint Presentation</vt:lpstr>
      <vt:lpstr>Mindset Lesson for the Day</vt:lpstr>
      <vt:lpstr>What is LCD</vt:lpstr>
      <vt:lpstr>PIN Details of LCD</vt:lpstr>
      <vt:lpstr>Schematic Diagram of LCD</vt:lpstr>
      <vt:lpstr>Character Display LCD</vt:lpstr>
      <vt:lpstr>COMMAND CODES</vt:lpstr>
      <vt:lpstr>Step 1-Initialize LCD</vt:lpstr>
      <vt:lpstr>Header files and Declarations</vt:lpstr>
      <vt:lpstr>LCD functions</vt:lpstr>
      <vt:lpstr>LCD Command</vt:lpstr>
      <vt:lpstr>LCD Data</vt:lpstr>
      <vt:lpstr>Delay</vt:lpstr>
      <vt:lpstr>LCD DISPLAY</vt:lpstr>
      <vt:lpstr>LCD CONVERT</vt:lpstr>
      <vt:lpstr>LCD INIT</vt:lpstr>
      <vt:lpstr>Main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DESIGN &amp; IoT</dc:title>
  <dc:creator>jeeva rajan</dc:creator>
  <cp:lastModifiedBy>PANTECH</cp:lastModifiedBy>
  <cp:revision>447</cp:revision>
  <dcterms:modified xsi:type="dcterms:W3CDTF">2021-07-10T07:22:48Z</dcterms:modified>
</cp:coreProperties>
</file>