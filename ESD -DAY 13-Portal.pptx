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5"/>
  </p:notesMasterIdLst>
  <p:sldIdLst>
    <p:sldId id="256" r:id="rId2"/>
    <p:sldId id="374" r:id="rId3"/>
    <p:sldId id="363" r:id="rId4"/>
    <p:sldId id="483" r:id="rId5"/>
    <p:sldId id="475" r:id="rId6"/>
    <p:sldId id="455" r:id="rId7"/>
    <p:sldId id="459" r:id="rId8"/>
    <p:sldId id="477" r:id="rId9"/>
    <p:sldId id="478" r:id="rId10"/>
    <p:sldId id="479" r:id="rId11"/>
    <p:sldId id="480" r:id="rId12"/>
    <p:sldId id="481" r:id="rId13"/>
    <p:sldId id="484" r:id="rId14"/>
    <p:sldId id="485" r:id="rId15"/>
    <p:sldId id="486" r:id="rId16"/>
    <p:sldId id="487" r:id="rId17"/>
    <p:sldId id="488" r:id="rId18"/>
    <p:sldId id="489" r:id="rId19"/>
    <p:sldId id="490" r:id="rId20"/>
    <p:sldId id="491" r:id="rId21"/>
    <p:sldId id="492" r:id="rId22"/>
    <p:sldId id="493" r:id="rId23"/>
    <p:sldId id="348" r:id="rId2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Nunito" panose="020B0604020202020204" charset="0"/>
      <p:regular r:id="rId34"/>
      <p:bold r:id="rId35"/>
      <p:italic r:id="rId36"/>
      <p:boldItalic r:id="rId37"/>
    </p:embeddedFont>
    <p:embeddedFont>
      <p:font typeface="Karla Regular" panose="020B0604020202020204" charset="0"/>
      <p:bold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7D1900-AC4F-4A15-BEC6-FC9A572E3F83}">
  <a:tblStyle styleId="{7C7D1900-AC4F-4A15-BEC6-FC9A572E3F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2" autoAdjust="0"/>
  </p:normalViewPr>
  <p:slideViewPr>
    <p:cSldViewPr snapToGrid="0">
      <p:cViewPr varScale="1">
        <p:scale>
          <a:sx n="110" d="100"/>
          <a:sy n="110" d="100"/>
        </p:scale>
        <p:origin x="658" y="6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4953000" y="4629150"/>
            <a:ext cx="4343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www.pantechsolutions.net</a:t>
            </a:r>
          </a:p>
          <a:p>
            <a:pPr>
              <a:defRPr/>
            </a:pPr>
            <a:r>
              <a:rPr lang="en-US" dirty="0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09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2" r:id="rId3"/>
    <p:sldLayoutId id="2147483681" r:id="rId4"/>
    <p:sldLayoutId id="2147483682" r:id="rId5"/>
    <p:sldLayoutId id="2147483683" r:id="rId6"/>
    <p:sldLayoutId id="214748368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2255044" y="924773"/>
            <a:ext cx="6736302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smtClean="0"/>
              <a:t>Interfacing UART with </a:t>
            </a:r>
            <a:br>
              <a:rPr lang="en-US" sz="3600" dirty="0" smtClean="0"/>
            </a:br>
            <a:r>
              <a:rPr lang="en-US" sz="3600" dirty="0" smtClean="0"/>
              <a:t>ARM7 LPC2148</a:t>
            </a:r>
            <a:endParaRPr sz="36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241963" y="3620121"/>
            <a:ext cx="5140037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sz="1600" dirty="0"/>
              <a:t>EMBEDDED SYSTEM </a:t>
            </a:r>
            <a:r>
              <a:rPr lang="en" sz="1600" dirty="0" smtClean="0"/>
              <a:t>DESIGN &amp; IoT-Master Class</a:t>
            </a:r>
            <a:endParaRPr sz="16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-77280" y="4354934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197795" y="211850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         </a:t>
            </a:r>
            <a:r>
              <a:rPr lang="en" sz="1800" b="1" smtClean="0">
                <a:solidFill>
                  <a:schemeClr val="accent4"/>
                </a:solidFill>
                <a:latin typeface="Montserrat" panose="00000500000000000000" pitchFamily="2" charset="0"/>
                <a:ea typeface="Karla Regular"/>
                <a:cs typeface="Karla Regular"/>
                <a:sym typeface="Karla Regular"/>
              </a:rPr>
              <a:t>DAY 13</a:t>
            </a:r>
            <a:endParaRPr sz="100" b="1" dirty="0">
              <a:latin typeface="Montserrat" panose="000005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19" y="1070028"/>
            <a:ext cx="1174118" cy="1102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600" b="1" dirty="0" smtClean="0">
                <a:solidFill>
                  <a:schemeClr val="tx2"/>
                </a:solidFill>
                <a:latin typeface="Fire sans extra"/>
              </a:rPr>
              <a:t>What You will learn Today?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11700" y="1242808"/>
            <a:ext cx="7924800" cy="23574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chemeClr val="bg1"/>
                </a:solidFill>
              </a:rPr>
              <a:t>What is UART</a:t>
            </a:r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How it works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UART Registers in LPC2148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chemeClr val="bg1"/>
                </a:solidFill>
                <a:ea typeface="Roboto" panose="02000000000000000000" pitchFamily="2" charset="0"/>
              </a:rPr>
              <a:t>Functions for UART  Transmit and Receive</a:t>
            </a:r>
            <a:endParaRPr lang="en-US" sz="2000" b="1" dirty="0">
              <a:solidFill>
                <a:schemeClr val="bg1"/>
              </a:solidFill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Code</a:t>
            </a:r>
          </a:p>
          <a:p>
            <a:pPr>
              <a:buFont typeface="Wingdings" pitchFamily="2" charset="2"/>
              <a:buChar char="ü"/>
            </a:pPr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 typeface="Wingdings" pitchFamily="2" charset="2"/>
              <a:buChar char="ü"/>
            </a:pPr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US" sz="2000" b="1" dirty="0" smtClean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4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73" y="214797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Mindset Lesson for the Day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73" y="1077341"/>
            <a:ext cx="8520600" cy="1272071"/>
          </a:xfrm>
        </p:spPr>
        <p:txBody>
          <a:bodyPr/>
          <a:lstStyle/>
          <a:p>
            <a:pPr marL="139700" indent="0">
              <a:buNone/>
            </a:pPr>
            <a:r>
              <a:rPr lang="en-US" sz="3200" b="1" dirty="0" smtClean="0"/>
              <a:t>Don’t  do the Same thing and expect different result.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www.pantechsolutions.net</a:t>
            </a:r>
          </a:p>
          <a:p>
            <a:pPr>
              <a:defRPr/>
            </a:pPr>
            <a:r>
              <a:rPr lang="en-US" dirty="0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4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UART PIN DETAILS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722" y="572700"/>
            <a:ext cx="4889236" cy="434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6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ARM7 Development Board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5820" y="1212850"/>
            <a:ext cx="4412032" cy="3416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79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87" y="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FT232 </a:t>
            </a:r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708" y="1152525"/>
            <a:ext cx="7540583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8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87" y="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UART</a:t>
            </a:r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9826" y="1136622"/>
            <a:ext cx="4242686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1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WHAT IS UART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Universal asynchronous receiver and </a:t>
            </a:r>
            <a:r>
              <a:rPr lang="en-US" b="1" dirty="0"/>
              <a:t>T</a:t>
            </a:r>
            <a:r>
              <a:rPr lang="en-US" b="1" dirty="0" smtClean="0"/>
              <a:t>ransmitter</a:t>
            </a:r>
          </a:p>
          <a:p>
            <a:r>
              <a:rPr lang="en-US" b="1" dirty="0" smtClean="0"/>
              <a:t>Serial port, COM port, RS232, RS485</a:t>
            </a:r>
          </a:p>
          <a:p>
            <a:r>
              <a:rPr lang="en-US" b="1" dirty="0" smtClean="0"/>
              <a:t>VERY COMMON AND SIMPLE</a:t>
            </a:r>
          </a:p>
          <a:p>
            <a:r>
              <a:rPr lang="en-US" b="1" dirty="0" smtClean="0"/>
              <a:t>Useful  for communication to</a:t>
            </a:r>
          </a:p>
          <a:p>
            <a:pPr lvl="1"/>
            <a:r>
              <a:rPr lang="en-US" dirty="0" smtClean="0"/>
              <a:t>Microcontroller</a:t>
            </a:r>
          </a:p>
          <a:p>
            <a:pPr lvl="1"/>
            <a:r>
              <a:rPr lang="en-US" dirty="0" smtClean="0"/>
              <a:t>Computer</a:t>
            </a:r>
          </a:p>
          <a:p>
            <a:pPr lvl="1"/>
            <a:r>
              <a:rPr lang="en-US" dirty="0" smtClean="0"/>
              <a:t>Other FPGA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217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6096" y="742130"/>
            <a:ext cx="5520375" cy="26660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51162" y="3642594"/>
            <a:ext cx="77654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Roboto" panose="02000000000000000000" pitchFamily="2" charset="0"/>
              </a:rPr>
              <a:t>Two methods of serial communication </a:t>
            </a:r>
            <a:r>
              <a:rPr lang="en-US" dirty="0" smtClean="0">
                <a:latin typeface="Roboto" panose="02000000000000000000" pitchFamily="2" charset="0"/>
              </a:rPr>
              <a:t>are</a:t>
            </a:r>
          </a:p>
          <a:p>
            <a:endParaRPr lang="en-US" dirty="0">
              <a:latin typeface="Roboto" panose="020000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</a:rPr>
              <a:t>Synchronous Communication: Transfer of bulk data in the framed structure at a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</a:rPr>
              <a:t>Asynchronous Communication: Transfer of a byte data in the framed structure at a time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73598" y="26775"/>
            <a:ext cx="8520600" cy="5727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Asynchronous Vs Synchronous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46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191" y="257989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UART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000" y="1236717"/>
            <a:ext cx="7724775" cy="281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5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UART PARAMETERS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55" y="1491911"/>
            <a:ext cx="8520600" cy="3416400"/>
          </a:xfrm>
        </p:spPr>
        <p:txBody>
          <a:bodyPr/>
          <a:lstStyle/>
          <a:p>
            <a:r>
              <a:rPr lang="en-US" dirty="0"/>
              <a:t>  Baud Rate            (9600, 19200, 115200, others)</a:t>
            </a:r>
          </a:p>
          <a:p>
            <a:r>
              <a:rPr lang="en-US" dirty="0"/>
              <a:t>  </a:t>
            </a:r>
            <a:r>
              <a:rPr lang="en-US" dirty="0" smtClean="0"/>
              <a:t>Number </a:t>
            </a:r>
            <a:r>
              <a:rPr lang="en-US" dirty="0"/>
              <a:t>of Data Bits  (7, 8)</a:t>
            </a:r>
          </a:p>
          <a:p>
            <a:r>
              <a:rPr lang="en-US" dirty="0"/>
              <a:t>  </a:t>
            </a:r>
            <a:r>
              <a:rPr lang="en-US" dirty="0" smtClean="0"/>
              <a:t>Parity </a:t>
            </a:r>
            <a:r>
              <a:rPr lang="en-US" dirty="0"/>
              <a:t>Bit           (On, Off)</a:t>
            </a:r>
          </a:p>
          <a:p>
            <a:r>
              <a:rPr lang="en-US" dirty="0"/>
              <a:t>  </a:t>
            </a:r>
            <a:r>
              <a:rPr lang="en-US" dirty="0" smtClean="0"/>
              <a:t>Stop </a:t>
            </a:r>
            <a:r>
              <a:rPr lang="en-US" dirty="0"/>
              <a:t>Bits            (0, 1, 2)</a:t>
            </a:r>
          </a:p>
          <a:p>
            <a:r>
              <a:rPr lang="en-US" dirty="0"/>
              <a:t>  </a:t>
            </a:r>
            <a:r>
              <a:rPr lang="en-US" dirty="0" smtClean="0"/>
              <a:t>Flow </a:t>
            </a:r>
            <a:r>
              <a:rPr lang="en-US" dirty="0"/>
              <a:t>Control         (None, On, Hardware)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40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540" y="62714"/>
            <a:ext cx="7723500" cy="481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UART DATA STREAM EXAMPLE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540" y="810032"/>
            <a:ext cx="7724775" cy="15761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98" y="2437235"/>
            <a:ext cx="6569318" cy="263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46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69" y="0"/>
            <a:ext cx="8520600" cy="5727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LPC2148 UART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869" y="770628"/>
            <a:ext cx="5878085" cy="387148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73723" y="4385372"/>
            <a:ext cx="4972929" cy="140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83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3550"/>
            <a:ext cx="8520600" cy="5727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LPC2148 UART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825" y="750955"/>
            <a:ext cx="4552175" cy="401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48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59262"/>
            <a:ext cx="8520600" cy="5727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UART0 Registers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U0RBR </a:t>
            </a:r>
            <a:r>
              <a:rPr lang="en-IN" b="1" dirty="0"/>
              <a:t>(UART0 Receive Buffer Register</a:t>
            </a:r>
            <a:r>
              <a:rPr lang="en-IN" b="1" dirty="0" smtClean="0"/>
              <a:t>)-</a:t>
            </a:r>
            <a:r>
              <a:rPr lang="en-US" dirty="0"/>
              <a:t>It is an 8-bit read only register.</a:t>
            </a:r>
          </a:p>
          <a:p>
            <a:pPr marL="596900" lvl="1" indent="0">
              <a:spcBef>
                <a:spcPts val="0"/>
              </a:spcBef>
              <a:buNone/>
            </a:pPr>
            <a:r>
              <a:rPr lang="en-US" dirty="0" smtClean="0"/>
              <a:t>	It </a:t>
            </a:r>
            <a:r>
              <a:rPr lang="en-US" dirty="0"/>
              <a:t>is an 8-bit read only register.</a:t>
            </a:r>
          </a:p>
          <a:p>
            <a:pPr marL="596900" lvl="1" indent="0">
              <a:spcBef>
                <a:spcPts val="0"/>
              </a:spcBef>
              <a:buNone/>
            </a:pPr>
            <a:r>
              <a:rPr lang="en-US" dirty="0" smtClean="0"/>
              <a:t>	This </a:t>
            </a:r>
            <a:r>
              <a:rPr lang="en-US" dirty="0"/>
              <a:t>register contains the received data.</a:t>
            </a:r>
          </a:p>
          <a:p>
            <a:r>
              <a:rPr lang="nb-NO" b="1" dirty="0" smtClean="0"/>
              <a:t>U0THR </a:t>
            </a:r>
            <a:r>
              <a:rPr lang="nb-NO" b="1" dirty="0"/>
              <a:t>(UART0 Transmit Holding </a:t>
            </a:r>
            <a:r>
              <a:rPr lang="nb-NO" b="1" dirty="0" smtClean="0"/>
              <a:t>Register)</a:t>
            </a:r>
          </a:p>
          <a:p>
            <a:pPr marL="139700" indent="0">
              <a:buNone/>
            </a:pPr>
            <a:r>
              <a:rPr lang="nb-NO" b="1" dirty="0"/>
              <a:t>	</a:t>
            </a:r>
            <a:r>
              <a:rPr lang="en-US" dirty="0" smtClean="0"/>
              <a:t>It </a:t>
            </a:r>
            <a:r>
              <a:rPr lang="en-US" dirty="0"/>
              <a:t>is an 8-bit write only register.</a:t>
            </a:r>
          </a:p>
          <a:p>
            <a:pPr marL="139700" indent="0">
              <a:buNone/>
            </a:pPr>
            <a:r>
              <a:rPr lang="en-US" dirty="0" smtClean="0"/>
              <a:t>	Data </a:t>
            </a:r>
            <a:r>
              <a:rPr lang="en-US" dirty="0"/>
              <a:t>to be transmitted is written to this register.</a:t>
            </a:r>
          </a:p>
          <a:p>
            <a:r>
              <a:rPr lang="en-US" b="1" dirty="0" smtClean="0"/>
              <a:t>U0DLL </a:t>
            </a:r>
            <a:r>
              <a:rPr lang="en-US" b="1" dirty="0"/>
              <a:t>and U0DLM (UART0 Divisor Latch Registers</a:t>
            </a:r>
            <a:r>
              <a:rPr lang="en-US" b="1" dirty="0" smtClean="0"/>
              <a:t>)</a:t>
            </a:r>
          </a:p>
          <a:p>
            <a:pPr marL="1054100" lvl="2" indent="0">
              <a:spcBef>
                <a:spcPts val="0"/>
              </a:spcBef>
              <a:buNone/>
            </a:pPr>
            <a:r>
              <a:rPr lang="en-US" dirty="0"/>
              <a:t>U0DLL is the Divisor Latch LSB.</a:t>
            </a:r>
          </a:p>
          <a:p>
            <a:pPr marL="1054100" lvl="2" indent="0">
              <a:spcBef>
                <a:spcPts val="0"/>
              </a:spcBef>
              <a:buNone/>
            </a:pPr>
            <a:r>
              <a:rPr lang="en-US" dirty="0"/>
              <a:t>U0DLM is the Divisor Latch MSB.</a:t>
            </a:r>
          </a:p>
          <a:p>
            <a:pPr marL="1054100" lvl="2" indent="0">
              <a:spcBef>
                <a:spcPts val="0"/>
              </a:spcBef>
              <a:buNone/>
            </a:pPr>
            <a:r>
              <a:rPr lang="en-US" dirty="0"/>
              <a:t>These are 8-bit read-write registers.</a:t>
            </a:r>
          </a:p>
          <a:p>
            <a:r>
              <a:rPr lang="en-IN" b="1" dirty="0" smtClean="0"/>
              <a:t>U0FDR </a:t>
            </a:r>
            <a:r>
              <a:rPr lang="en-IN" b="1" dirty="0"/>
              <a:t>(UART0 Fractional Divider Register</a:t>
            </a:r>
            <a:r>
              <a:rPr lang="en-IN" b="1" dirty="0" smtClean="0"/>
              <a:t>)</a:t>
            </a: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81" y="3719457"/>
            <a:ext cx="6544588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5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UART0 Registers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/>
          </a:p>
          <a:p>
            <a:r>
              <a:rPr lang="en-IN" b="1" dirty="0"/>
              <a:t>U0IER (UART0 Interrupt Enable Register</a:t>
            </a:r>
            <a:r>
              <a:rPr lang="en-IN" b="1" dirty="0" smtClean="0"/>
              <a:t>)</a:t>
            </a:r>
          </a:p>
          <a:p>
            <a:pPr marL="596900" lvl="1" indent="0">
              <a:spcBef>
                <a:spcPts val="0"/>
              </a:spcBef>
              <a:buNone/>
            </a:pPr>
            <a:r>
              <a:rPr lang="en-US" dirty="0"/>
              <a:t>It is a 32-bit read-write register.</a:t>
            </a:r>
          </a:p>
          <a:p>
            <a:pPr marL="596900" lvl="1" indent="0">
              <a:spcBef>
                <a:spcPts val="0"/>
              </a:spcBef>
              <a:buNone/>
            </a:pPr>
            <a:r>
              <a:rPr lang="en-US" dirty="0" smtClean="0"/>
              <a:t>It </a:t>
            </a:r>
            <a:r>
              <a:rPr lang="en-US" dirty="0"/>
              <a:t>is used to enable UART0 interrupt sources.</a:t>
            </a:r>
          </a:p>
          <a:p>
            <a:endParaRPr lang="en-IN" b="1" dirty="0"/>
          </a:p>
          <a:p>
            <a:r>
              <a:rPr lang="fr-FR" b="1" dirty="0"/>
              <a:t>U0IIR (UART0 </a:t>
            </a:r>
            <a:r>
              <a:rPr lang="fr-FR" b="1" dirty="0" err="1"/>
              <a:t>Interrupt</a:t>
            </a:r>
            <a:r>
              <a:rPr lang="fr-FR" b="1" dirty="0"/>
              <a:t> Identification </a:t>
            </a:r>
            <a:r>
              <a:rPr lang="fr-FR" b="1" dirty="0" err="1"/>
              <a:t>Register</a:t>
            </a:r>
            <a:r>
              <a:rPr lang="fr-FR" b="1" dirty="0" smtClean="0"/>
              <a:t>)</a:t>
            </a:r>
          </a:p>
          <a:p>
            <a:pPr marL="139700" indent="0">
              <a:buNone/>
            </a:pPr>
            <a:r>
              <a:rPr lang="en-US" dirty="0"/>
              <a:t> </a:t>
            </a:r>
            <a:r>
              <a:rPr lang="en-US" dirty="0" smtClean="0"/>
              <a:t>         It </a:t>
            </a:r>
            <a:r>
              <a:rPr lang="en-US" dirty="0"/>
              <a:t>is a 32-bit read only register.</a:t>
            </a:r>
          </a:p>
          <a:p>
            <a:pPr marL="139700" indent="0">
              <a:buNone/>
            </a:pPr>
            <a:endParaRPr lang="fr-FR" b="1" dirty="0" smtClean="0"/>
          </a:p>
          <a:p>
            <a:r>
              <a:rPr lang="en-US" b="1" dirty="0" smtClean="0"/>
              <a:t>U0LCR </a:t>
            </a:r>
            <a:r>
              <a:rPr lang="en-US" b="1" dirty="0"/>
              <a:t>(UART0 Line Control Register</a:t>
            </a:r>
            <a:r>
              <a:rPr lang="en-US" b="1" dirty="0" smtClean="0"/>
              <a:t>)</a:t>
            </a:r>
          </a:p>
          <a:p>
            <a:pPr marL="139700" indent="0">
              <a:buNone/>
            </a:pPr>
            <a:r>
              <a:rPr lang="en-US" dirty="0"/>
              <a:t> </a:t>
            </a:r>
            <a:r>
              <a:rPr lang="en-US" dirty="0" smtClean="0"/>
              <a:t>         It </a:t>
            </a:r>
            <a:r>
              <a:rPr lang="en-US" dirty="0"/>
              <a:t>is an 8-bit read-write register.</a:t>
            </a:r>
          </a:p>
          <a:p>
            <a:pPr marL="139700" indent="0">
              <a:buNone/>
            </a:pPr>
            <a:r>
              <a:rPr lang="en-US" dirty="0"/>
              <a:t> </a:t>
            </a:r>
            <a:r>
              <a:rPr lang="en-US" dirty="0" smtClean="0"/>
              <a:t>         It </a:t>
            </a:r>
            <a:r>
              <a:rPr lang="en-US" dirty="0"/>
              <a:t>determines the format of the data character that is to be transmitted or received.</a:t>
            </a:r>
          </a:p>
          <a:p>
            <a:endParaRPr lang="en-US" b="1" dirty="0"/>
          </a:p>
          <a:p>
            <a:r>
              <a:rPr lang="en-IN" b="1" dirty="0"/>
              <a:t>U0LSR (UART0 Line Status Register</a:t>
            </a:r>
            <a:r>
              <a:rPr lang="en-IN" b="1" dirty="0" smtClean="0"/>
              <a:t>)</a:t>
            </a:r>
          </a:p>
          <a:p>
            <a:pPr marL="139700" indent="0">
              <a:buNone/>
            </a:pPr>
            <a:r>
              <a:rPr lang="en-US" dirty="0" smtClean="0"/>
              <a:t>	It </a:t>
            </a:r>
            <a:r>
              <a:rPr lang="en-US" dirty="0"/>
              <a:t>is an 8-bit read only register.</a:t>
            </a:r>
          </a:p>
          <a:p>
            <a:pPr marL="139700" indent="0">
              <a:buNone/>
            </a:pPr>
            <a:endParaRPr lang="en-IN" b="1" dirty="0"/>
          </a:p>
          <a:p>
            <a:r>
              <a:rPr lang="nb-NO" b="1" dirty="0"/>
              <a:t>U0TER (UART0 Transmit Enable Register)</a:t>
            </a:r>
            <a:endParaRPr lang="en-IN" b="1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75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UART  Initialization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Configure </a:t>
            </a:r>
            <a:r>
              <a:rPr lang="en-US" dirty="0"/>
              <a:t>P0.0 and P0.1 as TXD0 and RXD0 by writing 01 to the corresponding bits in PINSEL0</a:t>
            </a:r>
            <a:r>
              <a:rPr lang="en-US" dirty="0" smtClean="0"/>
              <a:t>.</a:t>
            </a:r>
          </a:p>
          <a:p>
            <a:r>
              <a:rPr lang="en-US" dirty="0"/>
              <a:t>Using U0LCR register, make DLAB = 1. Also, select 8-bit character length and 1 stop bit.</a:t>
            </a:r>
          </a:p>
          <a:p>
            <a:r>
              <a:rPr lang="en-US" dirty="0"/>
              <a:t>Set appropriate values in U0DLL and U0DLM depending on the PCLK value and the baud rate desired. </a:t>
            </a:r>
          </a:p>
          <a:p>
            <a:r>
              <a:rPr lang="en-US" dirty="0"/>
              <a:t>Fractional divider can also be used to get different values of </a:t>
            </a:r>
            <a:r>
              <a:rPr lang="en-US" dirty="0" err="1"/>
              <a:t>baudrate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9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UART  Initialization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PCLK = 15MHz. For baud rate 9600, without using fractional divider register, from the baud rate formula, </a:t>
            </a:r>
            <a:endParaRPr lang="en-US" dirty="0" smtClean="0"/>
          </a:p>
          <a:p>
            <a:pPr marL="139700" indent="0">
              <a:buNone/>
            </a:pPr>
            <a:r>
              <a:rPr lang="en-US" dirty="0" smtClean="0"/>
              <a:t>we </a:t>
            </a:r>
            <a:r>
              <a:rPr lang="en-US" dirty="0"/>
              <a:t>have,9600 = \</a:t>
            </a:r>
            <a:r>
              <a:rPr lang="en-US" dirty="0" err="1"/>
              <a:t>frac</a:t>
            </a:r>
            <a:r>
              <a:rPr lang="en-US" dirty="0"/>
              <a:t>{15000000}{16 * (256 * U0DLM + U0DLL)} * \</a:t>
            </a:r>
            <a:r>
              <a:rPr lang="en-US" dirty="0" err="1"/>
              <a:t>frac</a:t>
            </a:r>
            <a:r>
              <a:rPr lang="en-US" dirty="0"/>
              <a:t>{</a:t>
            </a:r>
            <a:r>
              <a:rPr lang="en-US" dirty="0" err="1"/>
              <a:t>MulVal</a:t>
            </a:r>
            <a:r>
              <a:rPr lang="en-US" dirty="0"/>
              <a:t>}{</a:t>
            </a:r>
            <a:r>
              <a:rPr lang="en-US" dirty="0" err="1"/>
              <a:t>MulVal</a:t>
            </a:r>
            <a:r>
              <a:rPr lang="en-US" dirty="0"/>
              <a:t> + </a:t>
            </a:r>
            <a:r>
              <a:rPr lang="en-US" dirty="0" err="1"/>
              <a:t>DivAddVal</a:t>
            </a:r>
            <a:r>
              <a:rPr lang="en-US" dirty="0" smtClean="0"/>
              <a:t>}</a:t>
            </a:r>
          </a:p>
          <a:p>
            <a:endParaRPr lang="en-US" dirty="0"/>
          </a:p>
          <a:p>
            <a:r>
              <a:rPr lang="en-US" dirty="0" smtClean="0"/>
              <a:t>On </a:t>
            </a:r>
            <a:r>
              <a:rPr lang="en-US" dirty="0"/>
              <a:t>reset, </a:t>
            </a:r>
            <a:r>
              <a:rPr lang="en-US" dirty="0" err="1"/>
              <a:t>MulVal</a:t>
            </a:r>
            <a:r>
              <a:rPr lang="en-US" dirty="0"/>
              <a:t> = 1 and </a:t>
            </a:r>
            <a:r>
              <a:rPr lang="en-US" dirty="0" err="1"/>
              <a:t>DivAddVal</a:t>
            </a:r>
            <a:r>
              <a:rPr lang="en-US" dirty="0"/>
              <a:t> = 0 in the Fractional Divider Register.</a:t>
            </a:r>
          </a:p>
          <a:p>
            <a:r>
              <a:rPr lang="en-US" dirty="0"/>
              <a:t>Hence,  ( 256 x U0DLM + U0DLL ) = \</a:t>
            </a:r>
            <a:r>
              <a:rPr lang="en-US" dirty="0" err="1"/>
              <a:t>frac</a:t>
            </a:r>
            <a:r>
              <a:rPr lang="en-US" dirty="0"/>
              <a:t>{15000000}{16 * 9600}</a:t>
            </a:r>
          </a:p>
          <a:p>
            <a:pPr marL="139700" indent="0">
              <a:buNone/>
            </a:pPr>
            <a:r>
              <a:rPr lang="en-US" dirty="0" smtClean="0"/>
              <a:t>	( </a:t>
            </a:r>
            <a:r>
              <a:rPr lang="en-US" dirty="0"/>
              <a:t>256 x U0DLM + U0DLL ) = 97.65</a:t>
            </a:r>
          </a:p>
          <a:p>
            <a:r>
              <a:rPr lang="en-US" dirty="0"/>
              <a:t>We can consider it to be 98 or 97. It will make the baud rate slightly less or more than 9600. </a:t>
            </a:r>
          </a:p>
          <a:p>
            <a:r>
              <a:rPr lang="en-US" dirty="0"/>
              <a:t>This small change is tolerable. We will consider 97.</a:t>
            </a:r>
          </a:p>
          <a:p>
            <a:r>
              <a:rPr lang="en-US" dirty="0"/>
              <a:t>Since 97 is less than 256 and register values cannot contain fractions,</a:t>
            </a:r>
          </a:p>
          <a:p>
            <a:pPr marL="139700" indent="0">
              <a:buNone/>
            </a:pPr>
            <a:r>
              <a:rPr lang="en-US" dirty="0" smtClean="0"/>
              <a:t>	 </a:t>
            </a:r>
            <a:r>
              <a:rPr lang="en-US" dirty="0"/>
              <a:t>we will take U0DLM = 0. This will give U0DLM = 97.</a:t>
            </a:r>
          </a:p>
          <a:p>
            <a:r>
              <a:rPr lang="en-US" dirty="0"/>
              <a:t>Make DLA = 0 using U0LCR register.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9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UART Initialization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dirty="0"/>
              <a:t>void UART0_init(void)</a:t>
            </a:r>
          </a:p>
          <a:p>
            <a:pPr marL="139700" indent="0">
              <a:buNone/>
            </a:pPr>
            <a:r>
              <a:rPr lang="en-IN" dirty="0"/>
              <a:t>{</a:t>
            </a:r>
          </a:p>
          <a:p>
            <a:pPr marL="139700" indent="0">
              <a:buNone/>
            </a:pPr>
            <a:endParaRPr lang="en-IN" dirty="0"/>
          </a:p>
          <a:p>
            <a:pPr marL="139700" indent="0">
              <a:buNone/>
            </a:pPr>
            <a:r>
              <a:rPr lang="en-IN" dirty="0"/>
              <a:t>	</a:t>
            </a:r>
          </a:p>
          <a:p>
            <a:pPr marL="139700" indent="0">
              <a:buNone/>
            </a:pPr>
            <a:r>
              <a:rPr lang="en-IN" dirty="0"/>
              <a:t>	PINSEL0 	= 0x00000005;         /* Enable RxD0 and TxD0              */ </a:t>
            </a:r>
          </a:p>
          <a:p>
            <a:pPr marL="139700" indent="0">
              <a:buNone/>
            </a:pPr>
            <a:r>
              <a:rPr lang="en-IN" dirty="0"/>
              <a:t>  U0LCR 	= 0x00000083;         /* 8 bits, no Parity, 1 Stop bit     */</a:t>
            </a:r>
          </a:p>
          <a:p>
            <a:pPr marL="139700" indent="0">
              <a:buNone/>
            </a:pPr>
            <a:r>
              <a:rPr lang="en-IN" dirty="0"/>
              <a:t>  U0DLL 	= 0x000000C3;         /* 9600 Baud Rate @ 30MHz VPB Clock  */</a:t>
            </a:r>
          </a:p>
          <a:p>
            <a:pPr marL="139700" indent="0">
              <a:buNone/>
            </a:pPr>
            <a:r>
              <a:rPr lang="en-IN" dirty="0"/>
              <a:t>  U0LCR 	= 0x00000003;         /* DLAB = 0                          */</a:t>
            </a:r>
          </a:p>
          <a:p>
            <a:pPr marL="139700" indent="0">
              <a:buNone/>
            </a:pPr>
            <a:endParaRPr lang="en-IN" dirty="0"/>
          </a:p>
          <a:p>
            <a:pPr marL="139700" indent="0">
              <a:buNone/>
            </a:pPr>
            <a:r>
              <a:rPr lang="en-IN" dirty="0"/>
              <a:t>	</a:t>
            </a:r>
          </a:p>
          <a:p>
            <a:pPr marL="13970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4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Receiving Character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1700" y="2475000"/>
            <a:ext cx="65" cy="77135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Menlo"/>
              </a:rPr>
              <a:t/>
            </a:r>
            <a:b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Menlo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223142"/>
            <a:ext cx="75039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latin typeface="Roboto" panose="02000000000000000000" pitchFamily="2" charset="0"/>
              </a:rPr>
              <a:t>Monitor the RDR bit in U0LSR register to see if valid data is available in U0RBR register.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" y="1736336"/>
            <a:ext cx="732106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unsigned char UART0_RxChar(void) //A function to receive a byte on UART0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while( (U0LSR &amp; 0x01) == 0);	//Wait till RDR bit becomes 1 which tells that receiver contains valid data</a:t>
            </a:r>
          </a:p>
          <a:p>
            <a:r>
              <a:rPr lang="en-IN" dirty="0"/>
              <a:t>		return U0RBR;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275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Transmitting </a:t>
            </a:r>
            <a:r>
              <a:rPr lang="en-IN" b="1" dirty="0">
                <a:solidFill>
                  <a:srgbClr val="FF0000"/>
                </a:solidFill>
              </a:rPr>
              <a:t>character</a:t>
            </a: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Monitor the THRE bit in U0LSR register. When this bit becomes 1, it indicates that U0THR register is empty and the transmission is completed.</a:t>
            </a:r>
          </a:p>
          <a:p>
            <a:pPr marL="139700" indent="0">
              <a:buNone/>
            </a:pPr>
            <a:endParaRPr lang="en-US" dirty="0" smtClean="0"/>
          </a:p>
          <a:p>
            <a:pPr marL="139700" indent="0">
              <a:buNone/>
            </a:pPr>
            <a:endParaRPr lang="en-US" dirty="0" smtClean="0"/>
          </a:p>
          <a:p>
            <a:pPr marL="139700" indent="0">
              <a:buNone/>
            </a:pPr>
            <a:r>
              <a:rPr lang="en-US" dirty="0" smtClean="0"/>
              <a:t>void </a:t>
            </a:r>
            <a:r>
              <a:rPr lang="en-US" dirty="0"/>
              <a:t>UART0_TxChar(char </a:t>
            </a:r>
            <a:r>
              <a:rPr lang="en-US" dirty="0" err="1"/>
              <a:t>ch</a:t>
            </a:r>
            <a:r>
              <a:rPr lang="en-US" dirty="0"/>
              <a:t>) //A function to send a byte on UART0</a:t>
            </a:r>
          </a:p>
          <a:p>
            <a:pPr marL="139700" indent="0">
              <a:buNone/>
            </a:pPr>
            <a:r>
              <a:rPr lang="en-US" dirty="0"/>
              <a:t>{</a:t>
            </a:r>
          </a:p>
          <a:p>
            <a:pPr marL="139700" indent="0">
              <a:buNone/>
            </a:pPr>
            <a:r>
              <a:rPr lang="en-US" dirty="0"/>
              <a:t>	U0THR = </a:t>
            </a:r>
            <a:r>
              <a:rPr lang="en-US" dirty="0" err="1"/>
              <a:t>ch</a:t>
            </a:r>
            <a:r>
              <a:rPr lang="en-US" dirty="0"/>
              <a:t>;</a:t>
            </a:r>
          </a:p>
          <a:p>
            <a:pPr marL="139700" indent="0">
              <a:buNone/>
            </a:pPr>
            <a:r>
              <a:rPr lang="en-US" dirty="0"/>
              <a:t>	  while (!(U0LSR &amp; 0x20));</a:t>
            </a:r>
          </a:p>
          <a:p>
            <a:pPr marL="139700" indent="0">
              <a:buNone/>
            </a:pPr>
            <a:r>
              <a:rPr lang="en-US" dirty="0"/>
              <a:t>	//Wait till THRE bit becomes 1 which tells that transmission is completed</a:t>
            </a:r>
          </a:p>
          <a:p>
            <a:pPr marL="13970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32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Main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dirty="0" err="1"/>
              <a:t>int</a:t>
            </a:r>
            <a:r>
              <a:rPr lang="en-IN" dirty="0"/>
              <a:t> main(void)</a:t>
            </a:r>
          </a:p>
          <a:p>
            <a:pPr marL="139700" indent="0">
              <a:buNone/>
            </a:pPr>
            <a:r>
              <a:rPr lang="en-IN" dirty="0"/>
              <a:t>{</a:t>
            </a:r>
          </a:p>
          <a:p>
            <a:pPr marL="139700" indent="0">
              <a:buNone/>
            </a:pPr>
            <a:r>
              <a:rPr lang="en-IN" dirty="0"/>
              <a:t>	char receive;</a:t>
            </a:r>
          </a:p>
          <a:p>
            <a:pPr marL="139700" indent="0">
              <a:buNone/>
            </a:pPr>
            <a:r>
              <a:rPr lang="en-IN" dirty="0"/>
              <a:t>	VPBDIV = 0x02;</a:t>
            </a:r>
          </a:p>
          <a:p>
            <a:pPr marL="139700" indent="0">
              <a:buNone/>
            </a:pPr>
            <a:r>
              <a:rPr lang="en-IN" dirty="0"/>
              <a:t>	UART0_init();</a:t>
            </a:r>
          </a:p>
          <a:p>
            <a:pPr marL="139700" indent="0">
              <a:buNone/>
            </a:pPr>
            <a:r>
              <a:rPr lang="en-IN" dirty="0"/>
              <a:t>	while(1)</a:t>
            </a:r>
          </a:p>
          <a:p>
            <a:pPr marL="139700" indent="0">
              <a:buNone/>
            </a:pPr>
            <a:r>
              <a:rPr lang="en-IN" dirty="0"/>
              <a:t>	{</a:t>
            </a:r>
          </a:p>
          <a:p>
            <a:pPr marL="139700" indent="0">
              <a:buNone/>
            </a:pPr>
            <a:r>
              <a:rPr lang="en-IN" dirty="0"/>
              <a:t>		receive = UART0_RxChar();</a:t>
            </a:r>
          </a:p>
          <a:p>
            <a:pPr marL="139700" indent="0">
              <a:buNone/>
            </a:pPr>
            <a:r>
              <a:rPr lang="en-IN" dirty="0"/>
              <a:t>		UART0_TxChar(receive);</a:t>
            </a:r>
          </a:p>
          <a:p>
            <a:pPr marL="139700" indent="0">
              <a:buNone/>
            </a:pPr>
            <a:r>
              <a:rPr lang="en-IN" dirty="0"/>
              <a:t>		//UART0_SendString("\r\n");</a:t>
            </a:r>
          </a:p>
          <a:p>
            <a:pPr marL="139700" indent="0">
              <a:buNone/>
            </a:pPr>
            <a:r>
              <a:rPr lang="en-IN" dirty="0"/>
              <a:t>	}</a:t>
            </a:r>
          </a:p>
          <a:p>
            <a:pPr marL="13970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www.pantechsolutions.net</a:t>
            </a:r>
          </a:p>
          <a:p>
            <a:pPr>
              <a:defRPr/>
            </a:pPr>
            <a:r>
              <a:rPr lang="en-US" smtClean="0"/>
              <a:t>For learning hub visit  learn.pantechsolutions.net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849" y="2013573"/>
            <a:ext cx="7704000" cy="572700"/>
          </a:xfrm>
        </p:spPr>
        <p:txBody>
          <a:bodyPr/>
          <a:lstStyle/>
          <a:p>
            <a:r>
              <a:rPr lang="en-US" sz="7200" dirty="0" smtClean="0">
                <a:solidFill>
                  <a:schemeClr val="tx2"/>
                </a:solidFill>
              </a:rPr>
              <a:t>Thank You</a:t>
            </a:r>
            <a:endParaRPr lang="en-IN" sz="7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21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5069</TotalTime>
  <Words>589</Words>
  <Application>Microsoft Office PowerPoint</Application>
  <PresentationFormat>On-screen Show (16:9)</PresentationFormat>
  <Paragraphs>160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Montserrat</vt:lpstr>
      <vt:lpstr>Menlo</vt:lpstr>
      <vt:lpstr>Roboto</vt:lpstr>
      <vt:lpstr>Arial</vt:lpstr>
      <vt:lpstr>Fire sans extra</vt:lpstr>
      <vt:lpstr>Nunito</vt:lpstr>
      <vt:lpstr>Wingdings</vt:lpstr>
      <vt:lpstr>Karla Regular</vt:lpstr>
      <vt:lpstr>Mathematics Subject for Middle School - 6th Grade: Algebra by Slidesgo</vt:lpstr>
      <vt:lpstr>Interfacing UART with  ARM7 LPC2148</vt:lpstr>
      <vt:lpstr>PowerPoint Presentation</vt:lpstr>
      <vt:lpstr>Mindset Lesson for the Day</vt:lpstr>
      <vt:lpstr>UART PIN DETAILS</vt:lpstr>
      <vt:lpstr>ARM7 Development Board</vt:lpstr>
      <vt:lpstr>FT232 </vt:lpstr>
      <vt:lpstr>UART</vt:lpstr>
      <vt:lpstr>WHAT IS UART</vt:lpstr>
      <vt:lpstr>Asynchronous Vs Synchronous</vt:lpstr>
      <vt:lpstr>UART</vt:lpstr>
      <vt:lpstr>UART PARAMETERS</vt:lpstr>
      <vt:lpstr>UART DATA STREAM EXAMPLE</vt:lpstr>
      <vt:lpstr>LPC2148 UART</vt:lpstr>
      <vt:lpstr>LPC2148 UART</vt:lpstr>
      <vt:lpstr>UART0 Registers  </vt:lpstr>
      <vt:lpstr>UART0 Registers  </vt:lpstr>
      <vt:lpstr>UART  Initialization</vt:lpstr>
      <vt:lpstr>UART  Initialization</vt:lpstr>
      <vt:lpstr>UART Initialization</vt:lpstr>
      <vt:lpstr>Receiving Character</vt:lpstr>
      <vt:lpstr>Transmitting character  </vt:lpstr>
      <vt:lpstr>Main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DESIGN &amp; IoT</dc:title>
  <dc:creator>jeeva rajan</dc:creator>
  <cp:lastModifiedBy>PANTECH</cp:lastModifiedBy>
  <cp:revision>429</cp:revision>
  <dcterms:modified xsi:type="dcterms:W3CDTF">2021-07-10T07:13:24Z</dcterms:modified>
</cp:coreProperties>
</file>